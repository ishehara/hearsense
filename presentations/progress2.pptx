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3"/>
  </p:notesMasterIdLst>
  <p:sldIdLst>
    <p:sldId id="256" r:id="rId5"/>
    <p:sldId id="276" r:id="rId6"/>
    <p:sldId id="277" r:id="rId7"/>
    <p:sldId id="279" r:id="rId8"/>
    <p:sldId id="260" r:id="rId9"/>
    <p:sldId id="261" r:id="rId10"/>
    <p:sldId id="271" r:id="rId11"/>
    <p:sldId id="272" r:id="rId12"/>
    <p:sldId id="281" r:id="rId13"/>
    <p:sldId id="293" r:id="rId14"/>
    <p:sldId id="268" r:id="rId15"/>
    <p:sldId id="273" r:id="rId16"/>
    <p:sldId id="274" r:id="rId17"/>
    <p:sldId id="288" r:id="rId18"/>
    <p:sldId id="290" r:id="rId19"/>
    <p:sldId id="269" r:id="rId20"/>
    <p:sldId id="283" r:id="rId21"/>
    <p:sldId id="284" r:id="rId22"/>
    <p:sldId id="286" r:id="rId23"/>
    <p:sldId id="292" r:id="rId24"/>
    <p:sldId id="294" r:id="rId25"/>
    <p:sldId id="270" r:id="rId26"/>
    <p:sldId id="278" r:id="rId27"/>
    <p:sldId id="285" r:id="rId28"/>
    <p:sldId id="297" r:id="rId29"/>
    <p:sldId id="280" r:id="rId30"/>
    <p:sldId id="287" r:id="rId31"/>
    <p:sldId id="265" r:id="rId32"/>
  </p:sldIdLst>
  <p:sldSz cx="18288000" cy="10287000"/>
  <p:notesSz cx="6858000" cy="9144000"/>
  <p:embeddedFontLst>
    <p:embeddedFont>
      <p:font typeface="League Spartan" panose="020B0604020202020204" charset="0"/>
      <p:regular r:id="rId34"/>
    </p:embeddedFont>
    <p:embeddedFont>
      <p:font typeface="Paalalabas Wide" panose="020B0604020202020204" charset="0"/>
      <p:regular r:id="rId35"/>
    </p:embeddedFont>
    <p:embeddedFont>
      <p:font typeface="Public Sans" panose="020B0604020202020204" charset="0"/>
      <p:regular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Roboto Bold" panose="02000000000000000000" charset="0"/>
      <p:regular r:id="rId41"/>
    </p:embeddedFont>
    <p:embeddedFont>
      <p:font typeface="Rosario" panose="020B0604020202020204" charset="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638F"/>
    <a:srgbClr val="00A8B5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29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1AEE0-F9DA-4AFC-B27F-0618365B139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D5152-2AED-4DB0-A37F-5BE8D9F7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2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96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84C32-75C4-D121-B76D-78C29800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4CECF-0D09-0635-D210-E6A173074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748EB-DE0E-D547-BE55-8B2215D50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BC1A-6037-18B4-261A-BEFF8C1CD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ED5152-2AED-4DB0-A37F-5BE8D9F720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356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9E97-FDC7-552F-E7C6-2DDC9652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2E13A-6404-1FD4-ACD8-7970059EC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E6AB2-78A4-53F5-1E9C-DFCC94AE8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F37E0-D25E-5160-F35B-B2F1683EA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80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6E870-FDD4-9470-C2BD-96DC7025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90945-BADB-ACD3-6ED9-D4010CB8C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933CD-3627-2942-CD99-9755472BE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93E8B-35C9-0A8A-25BB-2011A7373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78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63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7738-0CB0-968B-16D6-8F676848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B3E57-F381-BE79-7DD6-BC121801F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9FF47-AA29-DFC5-9A44-3789F7E9C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7DFBC-712D-883C-43A4-310767F23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10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B107-2C49-51F3-51B5-42B7A03B1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4EDE3-8304-1481-E212-60393533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089A4-5C57-891D-FF28-EF29B52B4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28250-315A-8009-96A2-D71584E0A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ED5152-2AED-4DB0-A37F-5BE8D9F720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492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svg"/><Relationship Id="rId7" Type="http://schemas.openxmlformats.org/officeDocument/2006/relationships/image" Target="../media/image17.jpeg"/><Relationship Id="rId12" Type="http://schemas.openxmlformats.org/officeDocument/2006/relationships/image" Target="../media/image7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5.svg"/><Relationship Id="rId9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7.png"/><Relationship Id="rId7" Type="http://schemas.openxmlformats.org/officeDocument/2006/relationships/image" Target="../media/image28.jpe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4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7.png"/><Relationship Id="rId9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2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7.png"/><Relationship Id="rId4" Type="http://schemas.openxmlformats.org/officeDocument/2006/relationships/image" Target="../media/image4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.svg"/><Relationship Id="rId7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862057">
            <a:off x="10503123" y="1664697"/>
            <a:ext cx="10137261" cy="6819612"/>
          </a:xfrm>
          <a:custGeom>
            <a:avLst/>
            <a:gdLst/>
            <a:ahLst/>
            <a:cxnLst/>
            <a:rect l="l" t="t" r="r" b="b"/>
            <a:pathLst>
              <a:path w="10137261" h="6819612">
                <a:moveTo>
                  <a:pt x="0" y="0"/>
                </a:moveTo>
                <a:lnTo>
                  <a:pt x="10137261" y="0"/>
                </a:lnTo>
                <a:lnTo>
                  <a:pt x="10137261" y="6819612"/>
                </a:lnTo>
                <a:lnTo>
                  <a:pt x="0" y="68196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79736" y="6228055"/>
            <a:ext cx="3609467" cy="800645"/>
          </a:xfrm>
          <a:custGeom>
            <a:avLst/>
            <a:gdLst/>
            <a:ahLst/>
            <a:cxnLst/>
            <a:rect l="l" t="t" r="r" b="b"/>
            <a:pathLst>
              <a:path w="3609467" h="800645">
                <a:moveTo>
                  <a:pt x="0" y="0"/>
                </a:moveTo>
                <a:lnTo>
                  <a:pt x="3609467" y="0"/>
                </a:lnTo>
                <a:lnTo>
                  <a:pt x="3609467" y="800645"/>
                </a:lnTo>
                <a:lnTo>
                  <a:pt x="0" y="800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3141082"/>
            <a:ext cx="10407463" cy="270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400" b="1">
                <a:solidFill>
                  <a:srgbClr val="2A638F"/>
                </a:solidFill>
              </a:rPr>
              <a:t>“HearSense” - Intelligent Sinhala Sign Language Communication Platform with Emotion Recognition and Environmental Awareness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970665"/>
            <a:ext cx="474591" cy="459715"/>
          </a:xfrm>
          <a:custGeom>
            <a:avLst/>
            <a:gdLst/>
            <a:ahLst/>
            <a:cxnLst/>
            <a:rect l="l" t="t" r="r" b="b"/>
            <a:pathLst>
              <a:path w="474591" h="459715">
                <a:moveTo>
                  <a:pt x="0" y="0"/>
                </a:moveTo>
                <a:lnTo>
                  <a:pt x="474591" y="0"/>
                </a:lnTo>
                <a:lnTo>
                  <a:pt x="474591" y="459714"/>
                </a:lnTo>
                <a:lnTo>
                  <a:pt x="0" y="459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34015" y="6266812"/>
            <a:ext cx="8963549" cy="32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1"/>
              </a:lnSpc>
            </a:pPr>
            <a:r>
              <a:rPr lang="en-US" sz="2646">
                <a:solidFill>
                  <a:srgbClr val="F6F6F6"/>
                </a:solidFill>
                <a:latin typeface="Rosario"/>
                <a:ea typeface="Rosario"/>
                <a:cs typeface="Rosario"/>
                <a:sym typeface="Rosario"/>
              </a:rPr>
              <a:t>PRESENTED BY : AVERY DAVIS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6844500C-AC22-16A6-E023-A4E53CCC6699}"/>
              </a:ext>
            </a:extLst>
          </p:cNvPr>
          <p:cNvSpPr txBox="1"/>
          <p:nvPr/>
        </p:nvSpPr>
        <p:spPr>
          <a:xfrm>
            <a:off x="1028700" y="8633333"/>
            <a:ext cx="7773976" cy="31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5"/>
              </a:lnSpc>
              <a:spcBef>
                <a:spcPct val="0"/>
              </a:spcBef>
            </a:pPr>
            <a:r>
              <a:rPr lang="en-US" sz="4400" spc="-205">
                <a:solidFill>
                  <a:srgbClr val="2A638F"/>
                </a:solidFill>
                <a:latin typeface="Public Sans"/>
                <a:ea typeface="Public Sans"/>
                <a:cs typeface="Public Sans"/>
                <a:sym typeface="Public Sans"/>
              </a:rPr>
              <a:t>Group ID :  25 - 26J -  223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F965F96F-26CA-7392-59A6-DDB2C9F2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4/26/2026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1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C7FFDC3D-104F-B343-A801-8F72E6241A4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657111-643C-533E-A2AF-5F863CC752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4651" y="1953127"/>
            <a:ext cx="5785803" cy="57928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D2C67-1967-18C7-602B-BC622DBF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0BFB12-E0F2-A900-0359-E6D1AB2073D8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C6C0011-64FB-80DC-629E-0F6779FE40B3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5EA16C8-A42A-1896-16C1-3BDF96AF309A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798F68C6-B6E4-23C6-78BC-04508C05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4/26/2026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15AF32A3-48BD-44F4-9C6D-BFB9012E83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9E307A-5AE5-2EB1-B928-180F0B5F3E73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9FF20-F869-668D-3E16-D9159B495307}"/>
              </a:ext>
            </a:extLst>
          </p:cNvPr>
          <p:cNvSpPr txBox="1"/>
          <p:nvPr/>
        </p:nvSpPr>
        <p:spPr>
          <a:xfrm>
            <a:off x="1216742" y="1327214"/>
            <a:ext cx="15854516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>
                <a:solidFill>
                  <a:srgbClr val="2A638F"/>
                </a:solidFill>
              </a:rPr>
              <a:t>Overall Problem</a:t>
            </a:r>
          </a:p>
          <a:p>
            <a:r>
              <a:rPr lang="en-US" sz="3200"/>
              <a:t>People with hearing, speaking, and communication disabilities in Sri Lanka face multiple, interconnected challenges:</a:t>
            </a:r>
          </a:p>
          <a:p>
            <a:endParaRPr lang="en-US" sz="320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/>
              <a:t>Learning Sinhala Sign Language (SSL) is difficult due to non-adaptive, static learning platforms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/>
              <a:t>Deaf users often miss critical environmental sounds (vehicle horns, alarms), risking personal safety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/>
              <a:t>Existing sign recognition systems focus only on hand gestures, ignoring facial expressions and emotions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/>
              <a:t>Children with speaking disabilities struggle with daily two-way communication with family members</a:t>
            </a:r>
          </a:p>
          <a:p>
            <a:endParaRPr lang="en-US" sz="3200"/>
          </a:p>
          <a:p>
            <a:r>
              <a:rPr lang="en-US" sz="3200"/>
              <a:t>These problems are addressed separately in most systems, but rarely in a unified, user-centered way.</a:t>
            </a:r>
          </a:p>
        </p:txBody>
      </p:sp>
    </p:spTree>
    <p:extLst>
      <p:ext uri="{BB962C8B-B14F-4D97-AF65-F5344CB8AC3E}">
        <p14:creationId xmlns:p14="http://schemas.microsoft.com/office/powerpoint/2010/main" val="425352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A5A4D-E936-4C80-9786-478C44F0B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1C14A8-B90D-AC3C-01CA-E30FB2D52AD9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F369090-90F0-69DA-7D6E-59CF837F791D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FC92F8F-317E-4A6B-8741-6C20A9FF8217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FA262527-B719-EE0B-B13C-5B848119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4/26/2026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3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62139F30-0850-A14A-C7B2-13087670FB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91BBD-A660-66F2-DA72-D07C9BA7D5B6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C7163B-4547-5003-ABA4-1C908161FD80}"/>
              </a:ext>
            </a:extLst>
          </p:cNvPr>
          <p:cNvSpPr txBox="1"/>
          <p:nvPr/>
        </p:nvSpPr>
        <p:spPr>
          <a:xfrm>
            <a:off x="1216742" y="1327214"/>
            <a:ext cx="15854516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>
                <a:solidFill>
                  <a:srgbClr val="2A638F"/>
                </a:solidFill>
              </a:rPr>
              <a:t>Impact &amp; Gravity</a:t>
            </a:r>
          </a:p>
          <a:p>
            <a:r>
              <a:rPr lang="en-US" sz="3200" b="1"/>
              <a:t>Sign Learning System -</a:t>
            </a:r>
            <a:r>
              <a:rPr lang="en-US" sz="3200"/>
              <a:t>Without adaptive feedback and Sinhala-specific content, learners repeatedly practice incorrect signs, resulting in slow progress, poor accuracy, and reduced confidence.</a:t>
            </a:r>
          </a:p>
          <a:p>
            <a:br>
              <a:rPr lang="en-US" sz="3200"/>
            </a:br>
            <a:r>
              <a:rPr lang="en-US" sz="3200" b="1"/>
              <a:t>Environmental Sound Alert System -</a:t>
            </a:r>
            <a:r>
              <a:rPr lang="en-US" sz="3200"/>
              <a:t>The inability to detect and understand critical environmental sounds such as horns and alarms exposes Deaf users to serious safety risks in daily and emergency situations.</a:t>
            </a:r>
          </a:p>
          <a:p>
            <a:br>
              <a:rPr lang="en-US" sz="3200"/>
            </a:br>
            <a:r>
              <a:rPr lang="en-US" sz="3200" b="1"/>
              <a:t>Sign Recognition with Emotion System -</a:t>
            </a:r>
            <a:r>
              <a:rPr lang="en-US" sz="3200"/>
              <a:t>Ignoring facial expressions and emotional cues in sign recognition leads to loss of meaning, miscommunication, and unnatural interactions between users.</a:t>
            </a:r>
          </a:p>
          <a:p>
            <a:br>
              <a:rPr lang="en-US" sz="3200"/>
            </a:br>
            <a:r>
              <a:rPr lang="en-US" sz="3200" b="1"/>
              <a:t>Two-Way Communication System -</a:t>
            </a:r>
            <a:r>
              <a:rPr lang="en-US" sz="3200"/>
              <a:t>The lack of accessible two-way communication tools limits children with speaking disabilities from expressing daily needs, causing communication barriers and emotional frustration.</a:t>
            </a:r>
          </a:p>
        </p:txBody>
      </p:sp>
    </p:spTree>
    <p:extLst>
      <p:ext uri="{BB962C8B-B14F-4D97-AF65-F5344CB8AC3E}">
        <p14:creationId xmlns:p14="http://schemas.microsoft.com/office/powerpoint/2010/main" val="2851014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7C3A3-51C3-3BCF-1E0F-B08F970B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E7744E-69C4-2DF7-C6F3-5AE0F94E66C9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21D26A2-3352-4B2D-2955-8531254FA98B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63EE7FC-15FB-3EE0-A8FE-740267B2BCAA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6CCE377A-744A-BC6C-467E-53125433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4/26/2026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4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D5DA12BF-4BA4-95FC-9E33-97CF672EAD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1AF487-4578-2D32-96B3-8678745DAC47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1C426-1FF2-95D4-FFA4-705DC5AFB273}"/>
              </a:ext>
            </a:extLst>
          </p:cNvPr>
          <p:cNvSpPr txBox="1"/>
          <p:nvPr/>
        </p:nvSpPr>
        <p:spPr>
          <a:xfrm>
            <a:off x="1216742" y="1357694"/>
            <a:ext cx="9216412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>
                <a:solidFill>
                  <a:srgbClr val="2A638F"/>
                </a:solidFill>
              </a:rPr>
              <a:t>Who Has This Problem &amp; Who Benefits from the Solution</a:t>
            </a: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600"/>
              <a:t>Deaf and Hard-of-Hearing individuals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Children with speaking disabilities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Parents and caregivers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Special education teachers and institutions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General public interacting with Deaf users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Sri Lankan society as a whole</a:t>
            </a:r>
          </a:p>
          <a:p>
            <a:pPr>
              <a:buNone/>
            </a:pPr>
            <a:endParaRPr lang="en-US" sz="3200" b="1">
              <a:solidFill>
                <a:srgbClr val="2A638F"/>
              </a:solidFill>
            </a:endParaRPr>
          </a:p>
        </p:txBody>
      </p:sp>
      <p:pic>
        <p:nvPicPr>
          <p:cNvPr id="7" name="Picture 6" descr="A group of people talking&#10;&#10;AI-generated content may be incorrect.">
            <a:extLst>
              <a:ext uri="{FF2B5EF4-FFF2-40B4-BE49-F238E27FC236}">
                <a16:creationId xmlns:a16="http://schemas.microsoft.com/office/drawing/2014/main" id="{3B22E5A5-0580-115B-159D-8BCB015509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1200874"/>
            <a:ext cx="5334000" cy="80772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8874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4180" y="8877608"/>
            <a:ext cx="2865676" cy="2818783"/>
          </a:xfrm>
          <a:custGeom>
            <a:avLst/>
            <a:gdLst/>
            <a:ahLst/>
            <a:cxnLst/>
            <a:rect l="l" t="t" r="r" b="b"/>
            <a:pathLst>
              <a:path w="2865676" h="2818783">
                <a:moveTo>
                  <a:pt x="0" y="0"/>
                </a:moveTo>
                <a:lnTo>
                  <a:pt x="2865676" y="0"/>
                </a:lnTo>
                <a:lnTo>
                  <a:pt x="2865676" y="2818784"/>
                </a:lnTo>
                <a:lnTo>
                  <a:pt x="0" y="2818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1018064" y="-921545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5040401" y="0"/>
                </a:moveTo>
                <a:lnTo>
                  <a:pt x="0" y="0"/>
                </a:lnTo>
                <a:lnTo>
                  <a:pt x="0" y="4114800"/>
                </a:lnTo>
                <a:lnTo>
                  <a:pt x="5040401" y="4114800"/>
                </a:lnTo>
                <a:lnTo>
                  <a:pt x="50404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73147" y="8674840"/>
            <a:ext cx="836953" cy="1303074"/>
          </a:xfrm>
          <a:custGeom>
            <a:avLst/>
            <a:gdLst/>
            <a:ahLst/>
            <a:cxnLst/>
            <a:rect l="l" t="t" r="r" b="b"/>
            <a:pathLst>
              <a:path w="836953" h="1303074">
                <a:moveTo>
                  <a:pt x="0" y="0"/>
                </a:moveTo>
                <a:lnTo>
                  <a:pt x="836953" y="0"/>
                </a:lnTo>
                <a:lnTo>
                  <a:pt x="836953" y="1303074"/>
                </a:lnTo>
                <a:lnTo>
                  <a:pt x="0" y="1303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648CA588-1DAB-D0D3-3A7A-B6870AEA302B}"/>
              </a:ext>
            </a:extLst>
          </p:cNvPr>
          <p:cNvSpPr txBox="1"/>
          <p:nvPr/>
        </p:nvSpPr>
        <p:spPr>
          <a:xfrm>
            <a:off x="2981262" y="1227766"/>
            <a:ext cx="12787842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9500" spc="-779">
                <a:solidFill>
                  <a:srgbClr val="2A638F"/>
                </a:solidFill>
                <a:latin typeface="Public Sans"/>
                <a:ea typeface="Public Sans"/>
                <a:cs typeface="Public Sans"/>
                <a:sym typeface="Public Sans"/>
              </a:rPr>
              <a:t>Meet  Our  Team  Members</a:t>
            </a:r>
          </a:p>
        </p:txBody>
      </p:sp>
      <p:pic>
        <p:nvPicPr>
          <p:cNvPr id="24" name="Picture 23" descr="A person in a red shirt&#10;&#10;AI-generated content may be incorrect.">
            <a:extLst>
              <a:ext uri="{FF2B5EF4-FFF2-40B4-BE49-F238E27FC236}">
                <a16:creationId xmlns:a16="http://schemas.microsoft.com/office/drawing/2014/main" id="{116F7E87-957C-991D-E911-8AE1F3B149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01" y="3522179"/>
            <a:ext cx="3311047" cy="32437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EA6C95A-F308-1C54-0F48-127E71CC9E85}"/>
              </a:ext>
            </a:extLst>
          </p:cNvPr>
          <p:cNvSpPr txBox="1"/>
          <p:nvPr/>
        </p:nvSpPr>
        <p:spPr>
          <a:xfrm>
            <a:off x="565773" y="7636117"/>
            <a:ext cx="402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IT22315878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Silva H. T. P.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EE19E30-9780-4AE2-D078-821943E3B2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" b="573"/>
          <a:stretch/>
        </p:blipFill>
        <p:spPr>
          <a:xfrm>
            <a:off x="5171065" y="3521607"/>
            <a:ext cx="3281357" cy="32437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CA668D0-2A2B-D7C8-6C3A-29AFC31F6B28}"/>
              </a:ext>
            </a:extLst>
          </p:cNvPr>
          <p:cNvSpPr txBox="1"/>
          <p:nvPr/>
        </p:nvSpPr>
        <p:spPr>
          <a:xfrm>
            <a:off x="4858732" y="7636113"/>
            <a:ext cx="4516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IT22325464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KODITHUWAKKU M. A. S. S. H.</a:t>
            </a:r>
          </a:p>
        </p:txBody>
      </p:sp>
      <p:pic>
        <p:nvPicPr>
          <p:cNvPr id="28" name="Picture 27" descr="A person standing in front of a wall&#10;&#10;AI-generated content may be incorrect.">
            <a:extLst>
              <a:ext uri="{FF2B5EF4-FFF2-40B4-BE49-F238E27FC236}">
                <a16:creationId xmlns:a16="http://schemas.microsoft.com/office/drawing/2014/main" id="{8D3FC11E-0B22-7191-BF6A-1EAD004AF6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brightnessContrast bright="5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742" t="13122" b="48360"/>
          <a:stretch>
            <a:fillRect/>
          </a:stretch>
        </p:blipFill>
        <p:spPr>
          <a:xfrm>
            <a:off x="9728262" y="3521608"/>
            <a:ext cx="3480595" cy="32437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D205F58-E4A9-DDDD-ABA8-190464020664}"/>
              </a:ext>
            </a:extLst>
          </p:cNvPr>
          <p:cNvSpPr txBox="1"/>
          <p:nvPr/>
        </p:nvSpPr>
        <p:spPr>
          <a:xfrm>
            <a:off x="10255487" y="7636113"/>
            <a:ext cx="402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IT22304674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LIYANAGE M. L. I. S. </a:t>
            </a:r>
          </a:p>
        </p:txBody>
      </p:sp>
      <p:pic>
        <p:nvPicPr>
          <p:cNvPr id="30" name="Picture 29" descr="Two women in white dresses standing in a park&#10;&#10;AI-generated content may be incorrect.">
            <a:extLst>
              <a:ext uri="{FF2B5EF4-FFF2-40B4-BE49-F238E27FC236}">
                <a16:creationId xmlns:a16="http://schemas.microsoft.com/office/drawing/2014/main" id="{D0832397-D6C2-4077-3DA5-8664BD2AEB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17" t="7472" r="45938" b="57033"/>
          <a:stretch>
            <a:fillRect/>
          </a:stretch>
        </p:blipFill>
        <p:spPr>
          <a:xfrm>
            <a:off x="14281797" y="3521607"/>
            <a:ext cx="3480595" cy="32437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C732C4E-A214-0218-98D5-EEFB9707DA84}"/>
              </a:ext>
            </a:extLst>
          </p:cNvPr>
          <p:cNvSpPr txBox="1"/>
          <p:nvPr/>
        </p:nvSpPr>
        <p:spPr>
          <a:xfrm>
            <a:off x="14780784" y="7621361"/>
            <a:ext cx="3047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IT22308870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 Silva U. P. A. N.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442425B0-0550-842F-EEF3-9B3637BB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4/26/2026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6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BA476EF5-712C-1C97-67E8-037289773D8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01944" y="-1096870"/>
            <a:ext cx="5195213" cy="2843198"/>
          </a:xfrm>
          <a:custGeom>
            <a:avLst/>
            <a:gdLst/>
            <a:ahLst/>
            <a:cxnLst/>
            <a:rect l="l" t="t" r="r" b="b"/>
            <a:pathLst>
              <a:path w="5195213" h="2843198">
                <a:moveTo>
                  <a:pt x="0" y="0"/>
                </a:moveTo>
                <a:lnTo>
                  <a:pt x="5195213" y="0"/>
                </a:lnTo>
                <a:lnTo>
                  <a:pt x="5195213" y="2843198"/>
                </a:lnTo>
                <a:lnTo>
                  <a:pt x="0" y="2843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2D61F033-AAED-B20A-C98C-8F28F3A8E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E7B1B82-C8C8-2576-800A-2453764B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D6BC6D8C-8E9B-B213-028A-96C57283C4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387AFA1A-9EF7-34A1-8A7D-D7EB278C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pic>
        <p:nvPicPr>
          <p:cNvPr id="19" name="Picture 18" descr="A person in a red shirt&#10;&#10;AI-generated content may be incorrect.">
            <a:extLst>
              <a:ext uri="{FF2B5EF4-FFF2-40B4-BE49-F238E27FC236}">
                <a16:creationId xmlns:a16="http://schemas.microsoft.com/office/drawing/2014/main" id="{26E71980-37FF-276C-A67D-E87E80D59F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864" y="878039"/>
            <a:ext cx="4889089" cy="478976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Box 13">
            <a:extLst>
              <a:ext uri="{FF2B5EF4-FFF2-40B4-BE49-F238E27FC236}">
                <a16:creationId xmlns:a16="http://schemas.microsoft.com/office/drawing/2014/main" id="{9E387E52-CD26-D9CD-7F9F-4FF5E6E010B2}"/>
              </a:ext>
            </a:extLst>
          </p:cNvPr>
          <p:cNvSpPr txBox="1"/>
          <p:nvPr/>
        </p:nvSpPr>
        <p:spPr>
          <a:xfrm>
            <a:off x="1170039" y="3245359"/>
            <a:ext cx="12758277" cy="116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6903" b="1">
                <a:solidFill>
                  <a:srgbClr val="2A63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SILVA H. T. P.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8DE934AD-1BC4-085E-5262-0C4A7B645977}"/>
              </a:ext>
            </a:extLst>
          </p:cNvPr>
          <p:cNvSpPr txBox="1"/>
          <p:nvPr/>
        </p:nvSpPr>
        <p:spPr>
          <a:xfrm>
            <a:off x="1170039" y="1868565"/>
            <a:ext cx="6067239" cy="12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7066" b="1">
                <a:solidFill>
                  <a:srgbClr val="002060"/>
                </a:solidFill>
                <a:latin typeface="Roboto Bold"/>
                <a:ea typeface="Roboto Bold"/>
                <a:cs typeface="Roboto Bold"/>
                <a:sym typeface="Roboto Bold"/>
              </a:rPr>
              <a:t>IT22315878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4E42FC37-F5F5-4FC7-6E95-93E7ED5F65E9}"/>
              </a:ext>
            </a:extLst>
          </p:cNvPr>
          <p:cNvSpPr txBox="1"/>
          <p:nvPr/>
        </p:nvSpPr>
        <p:spPr>
          <a:xfrm>
            <a:off x="1170039" y="4848213"/>
            <a:ext cx="11851163" cy="5330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4276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Specialization :  Information Technology</a:t>
            </a:r>
          </a:p>
          <a:p>
            <a:pPr algn="l">
              <a:lnSpc>
                <a:spcPts val="5987"/>
              </a:lnSpc>
            </a:pPr>
            <a:endParaRPr lang="en-US" sz="4276">
              <a:solidFill>
                <a:srgbClr val="27354C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ts val="5987"/>
              </a:lnSpc>
            </a:pPr>
            <a:r>
              <a:rPr lang="en-US" sz="4400"/>
              <a:t>Title of the Individual Component: </a:t>
            </a:r>
          </a:p>
          <a:p>
            <a:pPr>
              <a:lnSpc>
                <a:spcPts val="5987"/>
              </a:lnSpc>
            </a:pPr>
            <a:r>
              <a:rPr lang="en-US" sz="4800"/>
              <a:t>Adaptive Sinhala Sign Language Learning Systems</a:t>
            </a:r>
          </a:p>
          <a:p>
            <a:pPr>
              <a:lnSpc>
                <a:spcPts val="5987"/>
              </a:lnSpc>
            </a:pPr>
            <a:endParaRPr lang="en-US" sz="4400"/>
          </a:p>
          <a:p>
            <a:pPr algn="l">
              <a:lnSpc>
                <a:spcPts val="5987"/>
              </a:lnSpc>
            </a:pPr>
            <a:endParaRPr lang="en-US" sz="4276">
              <a:solidFill>
                <a:srgbClr val="2735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F6C29-C85F-64CB-CABC-09FC36EB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B3A65CA-FBF8-3083-7831-A7191523D49C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62C6262-F790-2D28-9013-45BEB28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C61B00-371F-DCF6-05C8-7BDE1748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55F45235-4633-77C3-A127-92A16A91F1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6CBA5C30-DE2D-E9BB-53A6-23D4493F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52BA8-7057-7C8E-E648-0476285F3096}"/>
              </a:ext>
            </a:extLst>
          </p:cNvPr>
          <p:cNvSpPr txBox="1"/>
          <p:nvPr/>
        </p:nvSpPr>
        <p:spPr>
          <a:xfrm>
            <a:off x="564279" y="1109705"/>
            <a:ext cx="7443019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>
                <a:solidFill>
                  <a:srgbClr val="2A638F"/>
                </a:solidFill>
              </a:rPr>
              <a:t>Sub-Problem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/>
              <a:t>Existing Sinhala Sign Language systems mainly focus on static alphabet signs.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/>
              <a:t>Dynamic letters, dynamic forms, and number signs are not supported.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/>
              <a:t>Learning paths are fixed and do not adapt to individual learners.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/>
              <a:t>There is no real-time evaluation of sign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DBA88-55F1-0AB1-927A-5DC58438FD1C}"/>
              </a:ext>
            </a:extLst>
          </p:cNvPr>
          <p:cNvSpPr txBox="1"/>
          <p:nvPr/>
        </p:nvSpPr>
        <p:spPr>
          <a:xfrm>
            <a:off x="9357001" y="940128"/>
            <a:ext cx="846905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2A638F"/>
                </a:solidFill>
              </a:rPr>
              <a:t>How the Solution Addresses It</a:t>
            </a:r>
          </a:p>
          <a:p>
            <a:r>
              <a:rPr lang="en-US" sz="4000"/>
              <a:t>🎯 Recognizes Sinhala static letters, dynamic letters ,dynamic forms of  letters and numbers from images and video.</a:t>
            </a:r>
          </a:p>
          <a:p>
            <a:endParaRPr lang="en-US" sz="4000"/>
          </a:p>
          <a:p>
            <a:r>
              <a:rPr lang="en-US" sz="4000"/>
              <a:t>🎯 Outputs predicted sign + confidence score for real-time feedback.</a:t>
            </a:r>
          </a:p>
          <a:p>
            <a:endParaRPr lang="en-US" sz="4000"/>
          </a:p>
          <a:p>
            <a:r>
              <a:rPr lang="en-US" sz="4000"/>
              <a:t>🎯 Acts as the core recognition module for adaptive and personalized learning path.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D4B44-5896-091D-B5CA-E73DE8A32A86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Adaptive Sinhala Sign Language Learning Systems</a:t>
            </a:r>
          </a:p>
        </p:txBody>
      </p:sp>
      <p:pic>
        <p:nvPicPr>
          <p:cNvPr id="2" name="Picture 1" descr="A row of hands with different gestures&#10;&#10;AI-generated content may be incorrect.">
            <a:extLst>
              <a:ext uri="{FF2B5EF4-FFF2-40B4-BE49-F238E27FC236}">
                <a16:creationId xmlns:a16="http://schemas.microsoft.com/office/drawing/2014/main" id="{A0A64A88-D993-BA43-307A-F27341C4BCF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088" b="81790" l="10000" r="90000"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122"/>
          <a:stretch>
            <a:fillRect/>
          </a:stretch>
        </p:blipFill>
        <p:spPr>
          <a:xfrm>
            <a:off x="4074622" y="6529470"/>
            <a:ext cx="7886714" cy="35703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52D20C-BF23-1D45-A8D4-9139F784E11A}"/>
              </a:ext>
            </a:extLst>
          </p:cNvPr>
          <p:cNvCxnSpPr>
            <a:cxnSpLocks/>
          </p:cNvCxnSpPr>
          <p:nvPr/>
        </p:nvCxnSpPr>
        <p:spPr>
          <a:xfrm>
            <a:off x="8184629" y="3112333"/>
            <a:ext cx="0" cy="40623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428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541C4-C287-46A1-E535-438205F9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2AE8581-E526-5903-B3EA-DDF2CE5A30A6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9E52C172-9168-4871-DBDA-46905A46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804F160-7ED1-FABD-4AB7-1C5CFF34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B44C49A4-45E6-EB91-68DF-C006695331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593FEA82-18AF-60CA-796E-8916B6EA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7871A-4016-CDB7-229E-AAC46E3AC116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Adaptive Sinhala Sign Language Learning Systems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49784A3-AB2E-939C-7514-689A5DC5A803}"/>
              </a:ext>
            </a:extLst>
          </p:cNvPr>
          <p:cNvCxnSpPr>
            <a:cxnSpLocks/>
          </p:cNvCxnSpPr>
          <p:nvPr/>
        </p:nvCxnSpPr>
        <p:spPr>
          <a:xfrm>
            <a:off x="9113777" y="988142"/>
            <a:ext cx="30223" cy="81706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BC2B99-1DDE-B306-0B31-4D8B23DFF7A1}"/>
              </a:ext>
            </a:extLst>
          </p:cNvPr>
          <p:cNvSpPr txBox="1"/>
          <p:nvPr/>
        </p:nvSpPr>
        <p:spPr>
          <a:xfrm>
            <a:off x="753620" y="1480968"/>
            <a:ext cx="815440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>
                <a:solidFill>
                  <a:srgbClr val="2A638F"/>
                </a:solidFill>
              </a:rPr>
              <a:t>User Need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/>
              <a:t>Users want an easy way to learn Sinhala Sign Language.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/>
              <a:t>They need the system to adapt to their learning path.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/>
              <a:t>They want the system to be simple and easy to use.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/>
              <a:t>They need real-time feedback to improve.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0F0B21-2A15-F7B6-5F15-5FBB63574814}"/>
              </a:ext>
            </a:extLst>
          </p:cNvPr>
          <p:cNvSpPr txBox="1"/>
          <p:nvPr/>
        </p:nvSpPr>
        <p:spPr>
          <a:xfrm>
            <a:off x="9684557" y="1625668"/>
            <a:ext cx="784982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Our Solution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Uses an RL agent to give feedback.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Creates an adaptive learning path.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Eye-catching UI with good user interaction.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Shows users’ progress over time.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Can be used on any mobile device.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endParaRPr lang="en-US" sz="3600"/>
          </a:p>
          <a:p>
            <a:pPr>
              <a:buNone/>
            </a:pP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499144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D74BB-E1F0-A440-2049-83BB70C40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09A3ADE-34CF-4898-C84E-3AE0E38EF4B1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6CAAAB6-ECA6-6801-A120-0C71863F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B5F8090-0E81-33D7-615C-F1DAB882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83572F0D-A9E6-09A1-2202-E0F3A3E071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4C3510AF-D296-C279-8E48-628E7916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4E2C1-7FFF-8C82-AEB3-5324FD1F84CB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Adaptive Sinhala Sign Language Learning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2F7C9-9A28-3F07-FFCE-DB0B2B6A7CE6}"/>
              </a:ext>
            </a:extLst>
          </p:cNvPr>
          <p:cNvSpPr txBox="1"/>
          <p:nvPr/>
        </p:nvSpPr>
        <p:spPr>
          <a:xfrm>
            <a:off x="228600" y="746178"/>
            <a:ext cx="10206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A8B5"/>
                </a:solidFill>
              </a:rPr>
              <a:t>User-Centered Interface Intuitive, customizable, and visually clear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F0326-E7F0-1E8B-C364-9830A34A9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03236"/>
            <a:ext cx="3668906" cy="7683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E0EFFF-E79F-BA39-2F31-6C70D6D37E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506" y="1503235"/>
            <a:ext cx="3668906" cy="76833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B69362-0B03-C2BD-D4D5-B64CE62666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7630" y="304085"/>
            <a:ext cx="4030370" cy="91209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07E263-97FC-1E7B-E9C0-0AE04F143D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412" y="1503425"/>
            <a:ext cx="3805476" cy="7539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46F67D-0A61-4540-0236-982D32001F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463" y="1503235"/>
            <a:ext cx="2796883" cy="753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59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6F20C-BCC4-C134-BD78-A7E4970BA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78EB3FA-51ED-BADD-349E-AA86F630769C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482710C-E6D3-262C-495E-59B8A85E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2E69526-9083-AC80-7F86-AFFAAEF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1FB67BA3-0260-94D8-48AF-F53B82F8A8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29B2992D-8881-A109-365B-7D2781A8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F4232-3535-227A-76F4-ED835E1D53D8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Adaptive Sinhala Sign Language Learning Systems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75DF34A-7DF7-0EFD-5F37-826C59167248}"/>
              </a:ext>
            </a:extLst>
          </p:cNvPr>
          <p:cNvCxnSpPr>
            <a:cxnSpLocks/>
          </p:cNvCxnSpPr>
          <p:nvPr/>
        </p:nvCxnSpPr>
        <p:spPr>
          <a:xfrm>
            <a:off x="9113777" y="988142"/>
            <a:ext cx="30223" cy="37018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4601D0-2AB6-022C-CCBE-083806B6D303}"/>
              </a:ext>
            </a:extLst>
          </p:cNvPr>
          <p:cNvSpPr txBox="1"/>
          <p:nvPr/>
        </p:nvSpPr>
        <p:spPr>
          <a:xfrm>
            <a:off x="753620" y="1480968"/>
            <a:ext cx="81544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2A638F"/>
                </a:solidFill>
              </a:rPr>
              <a:t>Key Design Strengths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2800"/>
              <a:t>Personalized learning with adaptive paths.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2800"/>
              <a:t>Real-time feedback using an RL agent.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2800"/>
              <a:t>Interactive and eye-catching UI.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2800"/>
              <a:t>Easy to use on multiple devices.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AB6AB-5D0A-A64C-7B55-0D8DEE17D7D5}"/>
              </a:ext>
            </a:extLst>
          </p:cNvPr>
          <p:cNvSpPr txBox="1"/>
          <p:nvPr/>
        </p:nvSpPr>
        <p:spPr>
          <a:xfrm>
            <a:off x="9512716" y="1153611"/>
            <a:ext cx="784982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2A638F"/>
                </a:solidFill>
              </a:rPr>
              <a:t>Unique Contribution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/>
              <a:t>Combines AI (RL agent) with sign language learning.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/>
              <a:t>Makes learning Sinhala Sign Language faster and more engaging.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/>
              <a:t>Encourages continuous learning through feedback and progress tracking.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C9D6FD-48AE-A349-DEC9-53733B9E7413}"/>
              </a:ext>
            </a:extLst>
          </p:cNvPr>
          <p:cNvCxnSpPr>
            <a:cxnSpLocks/>
          </p:cNvCxnSpPr>
          <p:nvPr/>
        </p:nvCxnSpPr>
        <p:spPr>
          <a:xfrm flipH="1">
            <a:off x="1061884" y="5143500"/>
            <a:ext cx="1610523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B27ABC-8A19-876D-E24F-754F41FD3A7C}"/>
              </a:ext>
            </a:extLst>
          </p:cNvPr>
          <p:cNvSpPr txBox="1"/>
          <p:nvPr/>
        </p:nvSpPr>
        <p:spPr>
          <a:xfrm>
            <a:off x="1194009" y="5250508"/>
            <a:ext cx="12316634" cy="428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2A638F"/>
                </a:solidFill>
              </a:rPr>
              <a:t>User Feedback on Prototype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Learners reported increased engagement due to adaptive lessons.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Positive feedback on AI-guided corrections improving gesture accuracy.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Users appreciated customized encouragement, making learning less intimidating.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Prototype confirmed mobile accessibility and usability, suitable for home or classroom learning.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Implementation Stages: Initially focused on static and dynamic letters; based on user feedback, vowel forms and number signs were added to enhance learning coverage.</a:t>
            </a:r>
          </a:p>
        </p:txBody>
      </p:sp>
      <p:pic>
        <p:nvPicPr>
          <p:cNvPr id="14" name="Picture 13" descr="A group of people working on a clipboard&#10;&#10;AI-generated content may be incorrect.">
            <a:extLst>
              <a:ext uri="{FF2B5EF4-FFF2-40B4-BE49-F238E27FC236}">
                <a16:creationId xmlns:a16="http://schemas.microsoft.com/office/drawing/2014/main" id="{D5BA23E3-09D7-42E2-7157-F3EE641EF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2602" y="4403883"/>
            <a:ext cx="5487637" cy="54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3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12A6F-66F7-DF87-032B-15E3EDB9C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BE5A0D-0A5F-078C-3FD7-667D0C00EBB6}"/>
              </a:ext>
            </a:extLst>
          </p:cNvPr>
          <p:cNvSpPr/>
          <p:nvPr/>
        </p:nvSpPr>
        <p:spPr>
          <a:xfrm>
            <a:off x="-3301944" y="-1096870"/>
            <a:ext cx="5195213" cy="2843198"/>
          </a:xfrm>
          <a:custGeom>
            <a:avLst/>
            <a:gdLst/>
            <a:ahLst/>
            <a:cxnLst/>
            <a:rect l="l" t="t" r="r" b="b"/>
            <a:pathLst>
              <a:path w="5195213" h="2843198">
                <a:moveTo>
                  <a:pt x="0" y="0"/>
                </a:moveTo>
                <a:lnTo>
                  <a:pt x="5195213" y="0"/>
                </a:lnTo>
                <a:lnTo>
                  <a:pt x="5195213" y="2843198"/>
                </a:lnTo>
                <a:lnTo>
                  <a:pt x="0" y="2843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D0A3006-5558-AE18-C7F0-2B8D192D9C86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5EE71B67-5AD2-2218-14AA-9D48AE764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6761083-E50C-BF5B-324E-679618D5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0D421B1F-0321-9B43-B309-8D1B039886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ED209761-AD77-A7F4-3B18-2C5F1C66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2552DF2-DAF9-6338-4C10-FB9CA8135181}"/>
              </a:ext>
            </a:extLst>
          </p:cNvPr>
          <p:cNvSpPr txBox="1">
            <a:spLocks/>
          </p:cNvSpPr>
          <p:nvPr/>
        </p:nvSpPr>
        <p:spPr>
          <a:xfrm>
            <a:off x="2743200" y="9715500"/>
            <a:ext cx="15544800" cy="587829"/>
          </a:xfrm>
          <a:prstGeom prst="rect">
            <a:avLst/>
          </a:prstGeom>
          <a:solidFill>
            <a:schemeClr val="bg1"/>
          </a:solidFill>
        </p:spPr>
        <p:txBody>
          <a:bodyPr vert="horz" lIns="722376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/>
            <a:fld id="{81342F6D-75B8-442B-9659-969047C4CCC2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1C6E06-F0EB-0AA2-0C44-D8A856AABAB6}"/>
              </a:ext>
            </a:extLst>
          </p:cNvPr>
          <p:cNvSpPr txBox="1">
            <a:spLocks/>
          </p:cNvSpPr>
          <p:nvPr/>
        </p:nvSpPr>
        <p:spPr>
          <a:xfrm>
            <a:off x="16687800" y="9753600"/>
            <a:ext cx="1295400" cy="5334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B8FFAE11-5D6B-F56F-236C-7F3D0BDA1D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15500"/>
            <a:ext cx="2743200" cy="587830"/>
          </a:xfrm>
          <a:prstGeom prst="rect">
            <a:avLst/>
          </a:prstGeom>
        </p:spPr>
      </p:pic>
      <p:sp>
        <p:nvSpPr>
          <p:cNvPr id="7" name="Footer Placeholder 18">
            <a:extLst>
              <a:ext uri="{FF2B5EF4-FFF2-40B4-BE49-F238E27FC236}">
                <a16:creationId xmlns:a16="http://schemas.microsoft.com/office/drawing/2014/main" id="{79C3A4ED-CDE7-17B6-B5EF-16A6FDE0B6E3}"/>
              </a:ext>
            </a:extLst>
          </p:cNvPr>
          <p:cNvSpPr txBox="1">
            <a:spLocks/>
          </p:cNvSpPr>
          <p:nvPr/>
        </p:nvSpPr>
        <p:spPr>
          <a:xfrm>
            <a:off x="5372100" y="9880032"/>
            <a:ext cx="7543800" cy="258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IT22325464   |   KODITHUWAKKU M. A. S. S. H. 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5850BFDD-3D27-FDF5-AAA5-28159E20866C}"/>
              </a:ext>
            </a:extLst>
          </p:cNvPr>
          <p:cNvSpPr txBox="1"/>
          <p:nvPr/>
        </p:nvSpPr>
        <p:spPr>
          <a:xfrm>
            <a:off x="1143000" y="6301449"/>
            <a:ext cx="13605387" cy="1134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6903" b="1">
                <a:solidFill>
                  <a:srgbClr val="2A63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KODITHUWAKKU M. A. S. S. H.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6BC46FF9-4B4B-90C2-47FC-4BA1C42328B9}"/>
              </a:ext>
            </a:extLst>
          </p:cNvPr>
          <p:cNvSpPr txBox="1"/>
          <p:nvPr/>
        </p:nvSpPr>
        <p:spPr>
          <a:xfrm>
            <a:off x="1143000" y="4849329"/>
            <a:ext cx="6067239" cy="12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7066" b="1">
                <a:solidFill>
                  <a:srgbClr val="002060"/>
                </a:solidFill>
                <a:latin typeface="Roboto Bold"/>
                <a:ea typeface="Roboto Bold"/>
                <a:cs typeface="Roboto Bold"/>
                <a:sym typeface="Roboto Bold"/>
              </a:rPr>
              <a:t>IT22325464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D25E932A-08E6-A52F-99EC-5076EA4661BB}"/>
              </a:ext>
            </a:extLst>
          </p:cNvPr>
          <p:cNvSpPr txBox="1"/>
          <p:nvPr/>
        </p:nvSpPr>
        <p:spPr>
          <a:xfrm>
            <a:off x="1143000" y="7691927"/>
            <a:ext cx="16530851" cy="1495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4276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Specialization</a:t>
            </a:r>
            <a:r>
              <a:rPr lang="en-US" sz="4276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 : Information Technology</a:t>
            </a:r>
          </a:p>
          <a:p>
            <a:pPr>
              <a:lnSpc>
                <a:spcPts val="5987"/>
              </a:lnSpc>
            </a:pPr>
            <a:r>
              <a:rPr lang="en-US" sz="4000">
                <a:solidFill>
                  <a:srgbClr val="002060"/>
                </a:solidFill>
              </a:rPr>
              <a:t>Individual Component: </a:t>
            </a:r>
            <a:r>
              <a:rPr lang="en-US" sz="4400"/>
              <a:t>Environmental Sound Alert Module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FA0E6F-925A-0B6E-ECC2-FC1474DD8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2" r="1832"/>
          <a:stretch/>
        </p:blipFill>
        <p:spPr>
          <a:xfrm>
            <a:off x="12115800" y="723900"/>
            <a:ext cx="4892040" cy="50780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88818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F055F-20FD-ACE8-3C87-8399F811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C5013C8-2A01-5E2E-4610-E812A19ECE96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541AB8AF-B46C-03A6-55A7-8000BCFD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F0328B8-9E1F-6ED3-6530-5D63E2B7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90A32D88-FF53-142C-F1BC-CF598ADAE2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B068F485-E702-8CB5-E415-6E609E94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IT22325464   | KODITHUWAKKU M.A.S.S.H.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767838-7CDB-0677-D7AF-658F352102DB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Environmental Sound Alert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3E675-141B-2C27-24BF-0C5C4314DC64}"/>
              </a:ext>
            </a:extLst>
          </p:cNvPr>
          <p:cNvSpPr txBox="1"/>
          <p:nvPr/>
        </p:nvSpPr>
        <p:spPr>
          <a:xfrm>
            <a:off x="609599" y="1239023"/>
            <a:ext cx="8029433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Sub-Problem</a:t>
            </a:r>
          </a:p>
          <a:p>
            <a:endParaRPr lang="en-US" sz="3600" b="1">
              <a:solidFill>
                <a:srgbClr val="2A638F"/>
              </a:solidFill>
            </a:endParaRPr>
          </a:p>
          <a:p>
            <a:r>
              <a:rPr lang="en-US" sz="3200"/>
              <a:t>🔇 </a:t>
            </a:r>
            <a:r>
              <a:rPr lang="en-US" sz="2800"/>
              <a:t>Deaf users cannot perceive critical environmental sounds like vehicle horns and emergency sirens</a:t>
            </a:r>
          </a:p>
          <a:p>
            <a:r>
              <a:rPr lang="en-US" sz="2800"/>
              <a:t>→ </a:t>
            </a:r>
            <a:r>
              <a:rPr lang="en-US" sz="2800">
                <a:solidFill>
                  <a:srgbClr val="FF0000"/>
                </a:solidFill>
              </a:rPr>
              <a:t>Miss critical safety warnings in everyday life</a:t>
            </a:r>
          </a:p>
          <a:p>
            <a:endParaRPr lang="en-US" sz="2800"/>
          </a:p>
          <a:p>
            <a:r>
              <a:rPr lang="en-US" sz="2800"/>
              <a:t>❓ Existing systems detect sounds but don't identify the source or vehicle type → </a:t>
            </a:r>
            <a:r>
              <a:rPr lang="en-US" sz="2800">
                <a:solidFill>
                  <a:srgbClr val="FF0000"/>
                </a:solidFill>
              </a:rPr>
              <a:t>Reduced situational awareness and context</a:t>
            </a:r>
          </a:p>
          <a:p>
            <a:endParaRPr lang="en-US" sz="2800"/>
          </a:p>
          <a:p>
            <a:r>
              <a:rPr lang="en-US" sz="2800"/>
              <a:t>⚠️ All alerts treated equally without urgency-based prioritization for safety-critical situations → </a:t>
            </a:r>
            <a:r>
              <a:rPr lang="en-US" sz="2800">
                <a:solidFill>
                  <a:srgbClr val="FF0000"/>
                </a:solidFill>
              </a:rPr>
              <a:t>Delayed reactions to high-priority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/>
          </a:p>
          <a:p>
            <a:r>
              <a:rPr lang="en-US" sz="2800"/>
              <a:t>📱 Current solutions lack multi-modal alert feedback  → </a:t>
            </a:r>
            <a:r>
              <a:rPr lang="en-US" sz="2800">
                <a:solidFill>
                  <a:srgbClr val="FF0000"/>
                </a:solidFill>
              </a:rPr>
              <a:t>Poor user experience for Deaf and hard-of-hearing community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EC3D4-9C47-A559-BC8D-311B206F9008}"/>
              </a:ext>
            </a:extLst>
          </p:cNvPr>
          <p:cNvSpPr txBox="1"/>
          <p:nvPr/>
        </p:nvSpPr>
        <p:spPr>
          <a:xfrm>
            <a:off x="9214106" y="1269801"/>
            <a:ext cx="7500733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How the Solution Addresses It</a:t>
            </a:r>
          </a:p>
          <a:p>
            <a:endParaRPr lang="en-US" sz="36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Detects and classifies environmental sounds in real-time → </a:t>
            </a:r>
            <a:r>
              <a:rPr lang="en-US" sz="2800">
                <a:solidFill>
                  <a:srgbClr val="00B050"/>
                </a:solidFill>
              </a:rPr>
              <a:t>Provides immediate awareness of vehicle horns and sirens </a:t>
            </a:r>
          </a:p>
          <a:p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Performs fine-grained vehicle horn classification → </a:t>
            </a:r>
            <a:r>
              <a:rPr lang="en-US" sz="2800">
                <a:solidFill>
                  <a:srgbClr val="00B050"/>
                </a:solidFill>
              </a:rPr>
              <a:t>Identifies specific vehicle types for better context </a:t>
            </a:r>
            <a:r>
              <a:rPr lang="en-US" sz="2800"/>
              <a:t> (Car, Bus, Train, Truck, Motor bicycle)</a:t>
            </a:r>
            <a:endParaRPr lang="en-US" sz="2800">
              <a:solidFill>
                <a:srgbClr val="00B050"/>
              </a:solidFill>
            </a:endParaRPr>
          </a:p>
          <a:p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Assigns urgency scores to prioritize critical alerts → </a:t>
            </a:r>
            <a:r>
              <a:rPr lang="en-US" sz="2800">
                <a:solidFill>
                  <a:srgbClr val="00B050"/>
                </a:solidFill>
              </a:rPr>
              <a:t>Ensures high-priority sounds receive immediate attention </a:t>
            </a:r>
          </a:p>
          <a:p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Delivers multi-modal alerts optimized for Deaf users → </a:t>
            </a:r>
            <a:r>
              <a:rPr lang="en-US" sz="2800">
                <a:solidFill>
                  <a:srgbClr val="00B050"/>
                </a:solidFill>
              </a:rPr>
              <a:t>Combines vibration, flash, visual banners, and emojis </a:t>
            </a:r>
            <a:r>
              <a:rPr lang="en-US" sz="2800"/>
              <a:t> </a:t>
            </a:r>
            <a:endParaRPr lang="en-US" sz="2800">
              <a:solidFill>
                <a:srgbClr val="00B050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D21816-E52D-6B22-AB41-ABFAFB5C241D}"/>
              </a:ext>
            </a:extLst>
          </p:cNvPr>
          <p:cNvCxnSpPr>
            <a:cxnSpLocks/>
          </p:cNvCxnSpPr>
          <p:nvPr/>
        </p:nvCxnSpPr>
        <p:spPr>
          <a:xfrm>
            <a:off x="8874177" y="1746328"/>
            <a:ext cx="0" cy="69665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910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2DA07-6D4C-FAC9-78DD-1CA707C5B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12AE307-3524-5EE5-A75E-FE3B03194CAB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F880222C-36B5-DA2A-C463-35493EE3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1A046D5-E1F8-2781-946C-8EB033CC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E1A9B4E2-4714-4B84-CF85-E76056BCDF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DD686299-2AD2-3C47-EB5A-A29518DA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IT22325464   | KODITHUWAKKU M.A.S.S.H.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6DF23-AE3F-20E5-B5D2-378C513F2F77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Environmental Sound Alert Module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30BA16-D406-24F3-F5BF-6AA1D59B7462}"/>
              </a:ext>
            </a:extLst>
          </p:cNvPr>
          <p:cNvSpPr txBox="1"/>
          <p:nvPr/>
        </p:nvSpPr>
        <p:spPr>
          <a:xfrm>
            <a:off x="369939" y="729671"/>
            <a:ext cx="16992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2A638F"/>
                </a:solidFill>
              </a:rPr>
              <a:t>User Requirements Addressed by the Solution</a:t>
            </a:r>
          </a:p>
          <a:p>
            <a:endParaRPr lang="en-US" sz="4000" b="1">
              <a:solidFill>
                <a:srgbClr val="2A638F"/>
              </a:solidFill>
            </a:endParaRPr>
          </a:p>
          <a:p>
            <a:r>
              <a:rPr lang="en-US" sz="3200" b="1">
                <a:solidFill>
                  <a:srgbClr val="2A638F"/>
                </a:solidFill>
              </a:rPr>
              <a:t>		      </a:t>
            </a:r>
            <a:r>
              <a:rPr lang="en-US" sz="3200" b="1">
                <a:solidFill>
                  <a:srgbClr val="00A8B5"/>
                </a:solidFill>
              </a:rPr>
              <a:t>USER NEED </a:t>
            </a:r>
            <a:r>
              <a:rPr lang="en-US" sz="3200" b="1">
                <a:solidFill>
                  <a:srgbClr val="2A638F"/>
                </a:solidFill>
              </a:rPr>
              <a:t>								</a:t>
            </a:r>
            <a:r>
              <a:rPr lang="en-US" sz="3200" b="1">
                <a:solidFill>
                  <a:srgbClr val="00A8B5"/>
                </a:solidFill>
              </a:rPr>
              <a:t>OUR SOLUTION</a:t>
            </a:r>
          </a:p>
          <a:p>
            <a:endParaRPr lang="en-US" sz="3200" b="1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37B7E3-BB42-5688-A76E-66AB42E89E92}"/>
              </a:ext>
            </a:extLst>
          </p:cNvPr>
          <p:cNvCxnSpPr>
            <a:cxnSpLocks/>
          </p:cNvCxnSpPr>
          <p:nvPr/>
        </p:nvCxnSpPr>
        <p:spPr>
          <a:xfrm>
            <a:off x="7918213" y="1746328"/>
            <a:ext cx="0" cy="69665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7724902-2E47-7239-4ED4-506D616F37FB}"/>
              </a:ext>
            </a:extLst>
          </p:cNvPr>
          <p:cNvSpPr txBox="1"/>
          <p:nvPr/>
        </p:nvSpPr>
        <p:spPr>
          <a:xfrm>
            <a:off x="512626" y="2935895"/>
            <a:ext cx="72421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🎯Contextual Sound Awareness  </a:t>
            </a:r>
          </a:p>
          <a:p>
            <a:endParaRPr lang="en-US" sz="3200"/>
          </a:p>
          <a:p>
            <a:r>
              <a:rPr lang="en-US" sz="3200"/>
              <a:t>🎯 Vehicle-Specific Horn Classification</a:t>
            </a:r>
          </a:p>
          <a:p>
            <a:endParaRPr lang="en-US" sz="3200"/>
          </a:p>
          <a:p>
            <a:r>
              <a:rPr lang="en-US" sz="3200"/>
              <a:t>🎯 Urgency-Based Alert Prioritization</a:t>
            </a:r>
          </a:p>
          <a:p>
            <a:endParaRPr lang="en-US" sz="3200"/>
          </a:p>
          <a:p>
            <a:r>
              <a:rPr lang="en-US" sz="3200"/>
              <a:t>🎯Accessible Multi-Modal Alerts</a:t>
            </a:r>
          </a:p>
          <a:p>
            <a:endParaRPr lang="en-US" sz="3200"/>
          </a:p>
          <a:p>
            <a:r>
              <a:rPr lang="en-US" sz="3200"/>
              <a:t>🎯 Continuous Environmental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D3737-310E-9F9D-3FCF-CBCFE5102735}"/>
              </a:ext>
            </a:extLst>
          </p:cNvPr>
          <p:cNvSpPr txBox="1"/>
          <p:nvPr/>
        </p:nvSpPr>
        <p:spPr>
          <a:xfrm>
            <a:off x="8257313" y="2923618"/>
            <a:ext cx="92686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Identifies sound type and source category, not just "a sound occurred"</a:t>
            </a:r>
            <a:endParaRPr lang="en-US" sz="320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Distinguishes car, bus, train, truck, and motorcycle horns</a:t>
            </a:r>
            <a:endParaRPr lang="en-US" sz="320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Assigns High/Medium/Low priority levels to ensure critical alerts stand out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Delivers vibration patterns, screen flashes, visual banners, and emojis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Always listening and detecting critical sounds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505975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21F5-3C67-C652-E7EE-11CA2B20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E27F95A-B5A4-2687-022A-65385DF92B76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DDCEC0E4-6B31-F2A7-7CB9-0A7BC714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7A85608-BDD4-E125-55E7-229CA29F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06FDC24F-B2BF-9F11-DECF-1641976A5F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83F2BA50-F9A0-B172-06EA-11FCF2BC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IT22325464   | KODITHUWAKKU M.A.S.S.H.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47A8E-E245-E0B2-BBD6-4A9F6EF28C05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Environmental Sound Alert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421B4-7A52-136F-E633-2A3155697861}"/>
              </a:ext>
            </a:extLst>
          </p:cNvPr>
          <p:cNvSpPr txBox="1"/>
          <p:nvPr/>
        </p:nvSpPr>
        <p:spPr>
          <a:xfrm>
            <a:off x="578628" y="1049007"/>
            <a:ext cx="6320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Design Excellence/Contribution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7C0FA-6972-EB3F-FA29-DCD936CE19A1}"/>
              </a:ext>
            </a:extLst>
          </p:cNvPr>
          <p:cNvSpPr txBox="1"/>
          <p:nvPr/>
        </p:nvSpPr>
        <p:spPr>
          <a:xfrm>
            <a:off x="578629" y="1959204"/>
            <a:ext cx="10371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A8B5"/>
                </a:solidFill>
              </a:rPr>
              <a:t>User-Centered Interface - Intuitive, customizable, and visually clear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B6CF93-E5A3-ED9B-0C03-CC8FA4AF9F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28" y="2482422"/>
            <a:ext cx="3306110" cy="6948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ABF0F0-8C3E-196E-9C62-B02DE0A73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692" y="2431308"/>
            <a:ext cx="3439217" cy="69489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3A9B3F7-1D0B-C494-7150-BB24B87CCD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0945" y="2507981"/>
            <a:ext cx="3306110" cy="68467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F93333-43F4-3457-B0EE-C062B98BEA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972" y="2482422"/>
            <a:ext cx="3124853" cy="68467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58C6660-5008-79AF-F8CB-E1B78A82A9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778" y="2431308"/>
            <a:ext cx="3306110" cy="694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32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F30A-85F8-779D-A6F3-050352F9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F180B2A-A45F-5126-ECF9-485BF7BCBFB2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F725459-A279-0ECA-4AFD-BBD44965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71062D8-4285-80BA-66BD-D4C06BA3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11219CBF-B063-E366-B5DF-88DF2A9B36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D77C0E32-B3A7-22B1-5F9F-D01C491F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IT22325464   | KODITHUWAKKU M.A.S.S.H.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D5E82-C247-4F76-BBFC-247D39806ED2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Environmental Sound Alert Module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363904-C96F-9CDB-B975-A7C326DAE053}"/>
              </a:ext>
            </a:extLst>
          </p:cNvPr>
          <p:cNvCxnSpPr>
            <a:cxnSpLocks/>
          </p:cNvCxnSpPr>
          <p:nvPr/>
        </p:nvCxnSpPr>
        <p:spPr>
          <a:xfrm>
            <a:off x="8364726" y="1123406"/>
            <a:ext cx="0" cy="40638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62FC6F-D377-11C6-D20E-6F11F0C5A9A1}"/>
              </a:ext>
            </a:extLst>
          </p:cNvPr>
          <p:cNvCxnSpPr>
            <a:cxnSpLocks/>
          </p:cNvCxnSpPr>
          <p:nvPr/>
        </p:nvCxnSpPr>
        <p:spPr>
          <a:xfrm flipH="1">
            <a:off x="1051560" y="5187302"/>
            <a:ext cx="161848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129D2B-CAA8-2364-A56A-ADC4ED056C7A}"/>
              </a:ext>
            </a:extLst>
          </p:cNvPr>
          <p:cNvSpPr txBox="1"/>
          <p:nvPr/>
        </p:nvSpPr>
        <p:spPr>
          <a:xfrm>
            <a:off x="726116" y="1049007"/>
            <a:ext cx="712465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00A8B5"/>
                </a:solidFill>
              </a:rPr>
              <a:t>Key Design Strengths:</a:t>
            </a:r>
          </a:p>
          <a:p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Accessibility-first multi-modal alert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Real-time intelligent classification (5 vehicle types)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User-centered, icon-based interface design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Continuous automatic environmental monitoring</a:t>
            </a:r>
          </a:p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2D8A8D-0B15-87CA-F04F-390CF96CF5EF}"/>
              </a:ext>
            </a:extLst>
          </p:cNvPr>
          <p:cNvSpPr txBox="1"/>
          <p:nvPr/>
        </p:nvSpPr>
        <p:spPr>
          <a:xfrm>
            <a:off x="9413824" y="1049007"/>
            <a:ext cx="755482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00A8B5"/>
                </a:solidFill>
              </a:rPr>
              <a:t>Unique Contribution: </a:t>
            </a:r>
          </a:p>
          <a:p>
            <a:endParaRPr lang="en-US" sz="2800">
              <a:solidFill>
                <a:srgbClr val="00A8B5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First fine-grained vehicle horn classification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Context-aware urgency prioritization for Deaf users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Multi-modal alerts (vibration, flash, visual)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Enhances safety and independence in traffic environments</a:t>
            </a:r>
            <a:endParaRPr lang="en-US" sz="2800">
              <a:solidFill>
                <a:srgbClr val="00A8B5"/>
              </a:solidFill>
            </a:endParaRPr>
          </a:p>
          <a:p>
            <a:endParaRPr lang="en-US"/>
          </a:p>
          <a:p>
            <a:endParaRPr lang="en-US" sz="2800"/>
          </a:p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2E8E5A-DBE0-9E55-2CBE-7BF5CEEE5EFD}"/>
              </a:ext>
            </a:extLst>
          </p:cNvPr>
          <p:cNvSpPr txBox="1"/>
          <p:nvPr/>
        </p:nvSpPr>
        <p:spPr>
          <a:xfrm>
            <a:off x="2770239" y="5432985"/>
            <a:ext cx="712465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2A638F"/>
                </a:solidFill>
              </a:rPr>
              <a:t>User Feedback on Prototype</a:t>
            </a:r>
          </a:p>
          <a:p>
            <a:endParaRPr lang="en-US" sz="32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Real-time alerts gave sense of safety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Visual icons immediately understandable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Multiple alert modes important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Priority color coding intuitive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Comfortable using independently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Users valued customization control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Vibration strength mattered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5AA014-4F87-7D5B-EABA-CD7803BDE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726" y="4941619"/>
            <a:ext cx="7588031" cy="484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613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C1F2F-660F-3DD1-56E4-AFE0BA46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A5799B-9A68-1B22-8B76-81BB15876BD0}"/>
              </a:ext>
            </a:extLst>
          </p:cNvPr>
          <p:cNvSpPr/>
          <p:nvPr/>
        </p:nvSpPr>
        <p:spPr>
          <a:xfrm>
            <a:off x="-3301944" y="-1096870"/>
            <a:ext cx="5195213" cy="2843198"/>
          </a:xfrm>
          <a:custGeom>
            <a:avLst/>
            <a:gdLst/>
            <a:ahLst/>
            <a:cxnLst/>
            <a:rect l="l" t="t" r="r" b="b"/>
            <a:pathLst>
              <a:path w="5195213" h="2843198">
                <a:moveTo>
                  <a:pt x="0" y="0"/>
                </a:moveTo>
                <a:lnTo>
                  <a:pt x="5195213" y="0"/>
                </a:lnTo>
                <a:lnTo>
                  <a:pt x="5195213" y="2843198"/>
                </a:lnTo>
                <a:lnTo>
                  <a:pt x="0" y="2843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34C0F4-95CB-6BA4-3D9E-CE6CFCCFED3D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FB81569-08FA-AC6A-4F3A-B8CD85CCD7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5994" y="9688242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1AE0CD21-4B25-48BA-B021-1EE853717832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D6AAD7D-5EB9-1C69-3ABF-E1658CB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70594" y="9726342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close up of a sign&#10;&#10;AI-generated content may be incorrect.">
            <a:extLst>
              <a:ext uri="{FF2B5EF4-FFF2-40B4-BE49-F238E27FC236}">
                <a16:creationId xmlns:a16="http://schemas.microsoft.com/office/drawing/2014/main" id="{7DE10384-FB03-CA10-FD80-00D78F5BF2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06" y="9688242"/>
            <a:ext cx="2743200" cy="587830"/>
          </a:xfrm>
          <a:prstGeom prst="rect">
            <a:avLst/>
          </a:prstGeom>
        </p:spPr>
      </p:pic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FB6E8D2-35DA-6753-A38E-451F7A78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54894" y="9852774"/>
            <a:ext cx="7543800" cy="2587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IT22304674   |   LIYANAGE M. L. I. S.  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A204FC81-AA34-F2EF-63CC-CE490B17EE42}"/>
              </a:ext>
            </a:extLst>
          </p:cNvPr>
          <p:cNvSpPr txBox="1"/>
          <p:nvPr/>
        </p:nvSpPr>
        <p:spPr>
          <a:xfrm>
            <a:off x="1125794" y="6274191"/>
            <a:ext cx="12758277" cy="116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6903" b="1">
                <a:solidFill>
                  <a:srgbClr val="2A63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LIYANAGE M. L. I. S. 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791D489C-901E-4B5C-DE06-DD496D7FFB83}"/>
              </a:ext>
            </a:extLst>
          </p:cNvPr>
          <p:cNvSpPr txBox="1"/>
          <p:nvPr/>
        </p:nvSpPr>
        <p:spPr>
          <a:xfrm>
            <a:off x="1125794" y="4822071"/>
            <a:ext cx="6067239" cy="12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7066" b="1">
                <a:solidFill>
                  <a:srgbClr val="002060"/>
                </a:solidFill>
                <a:latin typeface="Roboto Bold"/>
                <a:ea typeface="Roboto Bold"/>
                <a:cs typeface="Roboto Bold"/>
                <a:sym typeface="Roboto Bold"/>
              </a:rPr>
              <a:t>IT22304674</a:t>
            </a:r>
          </a:p>
        </p:txBody>
      </p:sp>
      <p:pic>
        <p:nvPicPr>
          <p:cNvPr id="23" name="Picture 22" descr="A person standing in front of a wall&#10;&#10;AI-generated content may be incorrect.">
            <a:extLst>
              <a:ext uri="{FF2B5EF4-FFF2-40B4-BE49-F238E27FC236}">
                <a16:creationId xmlns:a16="http://schemas.microsoft.com/office/drawing/2014/main" id="{A8035D15-FA1C-7B19-3154-1BF598475C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brightnessContrast bright="5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742" t="13122" b="48360"/>
          <a:stretch>
            <a:fillRect/>
          </a:stretch>
        </p:blipFill>
        <p:spPr>
          <a:xfrm>
            <a:off x="11722535" y="749286"/>
            <a:ext cx="5245336" cy="51550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extBox 15">
            <a:extLst>
              <a:ext uri="{FF2B5EF4-FFF2-40B4-BE49-F238E27FC236}">
                <a16:creationId xmlns:a16="http://schemas.microsoft.com/office/drawing/2014/main" id="{E428109A-40AB-6368-D384-AEEC4E7344BC}"/>
              </a:ext>
            </a:extLst>
          </p:cNvPr>
          <p:cNvSpPr txBox="1"/>
          <p:nvPr/>
        </p:nvSpPr>
        <p:spPr>
          <a:xfrm>
            <a:off x="1143000" y="7691927"/>
            <a:ext cx="16530851" cy="1481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4276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Specialization</a:t>
            </a:r>
            <a:r>
              <a:rPr lang="en-US" sz="4276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r>
              <a:rPr lang="en-US" sz="4276">
                <a:latin typeface="Roboto"/>
                <a:ea typeface="Roboto"/>
                <a:cs typeface="Roboto"/>
                <a:sym typeface="Roboto"/>
              </a:rPr>
              <a:t>Information Technology</a:t>
            </a:r>
          </a:p>
          <a:p>
            <a:pPr>
              <a:lnSpc>
                <a:spcPts val="5987"/>
              </a:lnSpc>
            </a:pPr>
            <a:r>
              <a:rPr lang="en-US" sz="4000">
                <a:solidFill>
                  <a:srgbClr val="002060"/>
                </a:solidFill>
              </a:rPr>
              <a:t>Individual Component : </a:t>
            </a:r>
            <a:r>
              <a:rPr lang="en-US" sz="428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Smart Sinhala Sign Language Reader</a:t>
            </a:r>
          </a:p>
        </p:txBody>
      </p:sp>
    </p:spTree>
    <p:extLst>
      <p:ext uri="{BB962C8B-B14F-4D97-AF65-F5344CB8AC3E}">
        <p14:creationId xmlns:p14="http://schemas.microsoft.com/office/powerpoint/2010/main" val="1923587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37BB9-9743-ED5C-16F6-67439B49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DDEED8F-667C-8BEB-8991-AE02CDA21DAC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9F82A4A0-23B3-C682-C622-CDB7EDD1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D437700-8DC5-E7E9-028C-5BBC8114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FFB2C62C-671D-3821-2610-2C7EB60656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1DE944CE-42BE-AC40-8A70-19790361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0586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IT22304674   | </a:t>
            </a:r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LIYANAGE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M.L.</a:t>
            </a:r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13FA1-581C-CE4F-1852-37C70C714440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Sinhala Sign Language Reader with Emotion Recognition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F496EC-3E0D-50D0-AEDA-FE249B4DC58B}"/>
              </a:ext>
            </a:extLst>
          </p:cNvPr>
          <p:cNvSpPr txBox="1"/>
          <p:nvPr/>
        </p:nvSpPr>
        <p:spPr>
          <a:xfrm>
            <a:off x="718420" y="771068"/>
            <a:ext cx="8029433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2A638F"/>
                </a:solidFill>
              </a:rPr>
              <a:t>Sub-Problem</a:t>
            </a:r>
          </a:p>
          <a:p>
            <a:endParaRPr lang="en-US" sz="28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Existing SSL recognition systems focus </a:t>
            </a:r>
            <a:r>
              <a:rPr lang="en-US" sz="2800" b="1">
                <a:solidFill>
                  <a:srgbClr val="FF0000"/>
                </a:solidFill>
              </a:rPr>
              <a:t>only on hand gestures</a:t>
            </a:r>
            <a:r>
              <a:rPr lang="en-US" sz="2800" b="1"/>
              <a:t>, missing critical emotional and contextual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Most systems </a:t>
            </a:r>
            <a:r>
              <a:rPr lang="en-US" sz="2800" b="1">
                <a:solidFill>
                  <a:srgbClr val="FF0000"/>
                </a:solidFill>
              </a:rPr>
              <a:t>ignore facial expressions </a:t>
            </a:r>
            <a:r>
              <a:rPr lang="en-US" sz="2800" b="1"/>
              <a:t>and </a:t>
            </a:r>
            <a:r>
              <a:rPr lang="en-US" sz="2800" b="1">
                <a:solidFill>
                  <a:srgbClr val="FF0000"/>
                </a:solidFill>
              </a:rPr>
              <a:t>body postures</a:t>
            </a:r>
            <a:r>
              <a:rPr lang="en-US" sz="2800" b="1"/>
              <a:t> that add meaning and emotional context to sign communication.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Lack of multimodal integration (hands, face, pose) </a:t>
            </a:r>
            <a:r>
              <a:rPr lang="en-US" sz="2800" b="1">
                <a:solidFill>
                  <a:srgbClr val="FF0000"/>
                </a:solidFill>
              </a:rPr>
              <a:t>reduces recognition accuracy</a:t>
            </a:r>
            <a:r>
              <a:rPr lang="en-US" sz="2800" b="1"/>
              <a:t>, especially for complex signs and emotional expressions.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Cloud-based solutions compromise </a:t>
            </a:r>
            <a:r>
              <a:rPr lang="en-US" sz="2800" b="1">
                <a:solidFill>
                  <a:srgbClr val="FF0000"/>
                </a:solidFill>
              </a:rPr>
              <a:t>user privacy </a:t>
            </a:r>
            <a:r>
              <a:rPr lang="en-US" sz="2800" b="1"/>
              <a:t>and </a:t>
            </a:r>
            <a:r>
              <a:rPr lang="en-US" sz="2800" b="1">
                <a:solidFill>
                  <a:srgbClr val="FF0000"/>
                </a:solidFill>
              </a:rPr>
              <a:t>require internet </a:t>
            </a:r>
            <a:r>
              <a:rPr lang="en-US" sz="2800" b="1"/>
              <a:t>connectivity, limiting real-time performance and offline accessibility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AC126-6C65-D723-599A-B3D73560E28C}"/>
              </a:ext>
            </a:extLst>
          </p:cNvPr>
          <p:cNvSpPr txBox="1"/>
          <p:nvPr/>
        </p:nvSpPr>
        <p:spPr>
          <a:xfrm>
            <a:off x="9427994" y="686931"/>
            <a:ext cx="7500733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2A638F"/>
                </a:solidFill>
              </a:rPr>
              <a:t>How the Solution Addresses It</a:t>
            </a:r>
          </a:p>
          <a:p>
            <a:endParaRPr lang="en-US" sz="28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Integrates </a:t>
            </a:r>
            <a:r>
              <a:rPr lang="en-US" sz="2800" b="1">
                <a:solidFill>
                  <a:srgbClr val="FF0000"/>
                </a:solidFill>
              </a:rPr>
              <a:t>hand gestures </a:t>
            </a:r>
            <a:r>
              <a:rPr lang="en-US" sz="2800" b="1"/>
              <a:t>(126D), </a:t>
            </a:r>
            <a:r>
              <a:rPr lang="en-US" sz="2800" b="1">
                <a:solidFill>
                  <a:srgbClr val="FF0000"/>
                </a:solidFill>
              </a:rPr>
              <a:t>facial expressions</a:t>
            </a:r>
            <a:r>
              <a:rPr lang="en-US" sz="2800" b="1"/>
              <a:t> (468 landmarks), and </a:t>
            </a:r>
            <a:r>
              <a:rPr lang="en-US" sz="2800" b="1">
                <a:solidFill>
                  <a:srgbClr val="FF0000"/>
                </a:solidFill>
              </a:rPr>
              <a:t>body pose </a:t>
            </a:r>
            <a:r>
              <a:rPr lang="en-US" sz="2800" b="1"/>
              <a:t>(33 points) for holistic sign recognition.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Detects emotional context (</a:t>
            </a:r>
            <a:r>
              <a:rPr lang="en-US" sz="2800" b="1">
                <a:solidFill>
                  <a:srgbClr val="FF0000"/>
                </a:solidFill>
              </a:rPr>
              <a:t>happiness, sadness, anger, surprise, fear, neutral</a:t>
            </a:r>
            <a:r>
              <a:rPr lang="en-US" sz="2800" b="1"/>
              <a:t>) with intensity measurements.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Recognizes 227 Sinhala sign classes using </a:t>
            </a:r>
            <a:r>
              <a:rPr lang="en-US" sz="2800" b="1">
                <a:solidFill>
                  <a:srgbClr val="FF0000"/>
                </a:solidFill>
              </a:rPr>
              <a:t>LSTM</a:t>
            </a:r>
            <a:r>
              <a:rPr lang="en-US" sz="2800" b="1"/>
              <a:t> and </a:t>
            </a:r>
            <a:r>
              <a:rPr lang="en-US" sz="2800" b="1">
                <a:solidFill>
                  <a:srgbClr val="FF0000"/>
                </a:solidFill>
              </a:rPr>
              <a:t>Hybrid CNN </a:t>
            </a:r>
            <a:r>
              <a:rPr lang="en-US" sz="2800" b="1"/>
              <a:t>models with temporal sequence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Operates entirely </a:t>
            </a:r>
            <a:r>
              <a:rPr lang="en-US" sz="2800" b="1">
                <a:solidFill>
                  <a:srgbClr val="FF0000"/>
                </a:solidFill>
              </a:rPr>
              <a:t>on-device</a:t>
            </a:r>
            <a:r>
              <a:rPr lang="en-US" sz="2800" b="1"/>
              <a:t> using edge AI for </a:t>
            </a:r>
            <a:r>
              <a:rPr lang="en-US" sz="2800" b="1">
                <a:solidFill>
                  <a:srgbClr val="FF0000"/>
                </a:solidFill>
              </a:rPr>
              <a:t>full privacy</a:t>
            </a:r>
            <a:r>
              <a:rPr lang="en-US" sz="2800" b="1"/>
              <a:t>, </a:t>
            </a:r>
            <a:r>
              <a:rPr lang="en-US" sz="2800" b="1">
                <a:solidFill>
                  <a:srgbClr val="FF0000"/>
                </a:solidFill>
              </a:rPr>
              <a:t>offline capability</a:t>
            </a:r>
            <a:r>
              <a:rPr lang="en-US" sz="2800" b="1"/>
              <a:t>, and </a:t>
            </a:r>
            <a:r>
              <a:rPr lang="en-US" sz="2800" b="1">
                <a:solidFill>
                  <a:srgbClr val="FF0000"/>
                </a:solidFill>
              </a:rPr>
              <a:t>low-latency</a:t>
            </a:r>
            <a:r>
              <a:rPr lang="en-US" sz="2800" b="1"/>
              <a:t> processing.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Delivers multimodal output (</a:t>
            </a:r>
            <a:r>
              <a:rPr lang="en-US" sz="2800" b="1">
                <a:solidFill>
                  <a:srgbClr val="FF0000"/>
                </a:solidFill>
              </a:rPr>
              <a:t>text, emotion indicators</a:t>
            </a:r>
            <a:r>
              <a:rPr lang="en-US" sz="2800" b="1"/>
              <a:t>) for accessibility and immediate awareness of sign meaning.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5F7B98-8A29-8744-46DC-9765B45DF694}"/>
              </a:ext>
            </a:extLst>
          </p:cNvPr>
          <p:cNvCxnSpPr>
            <a:cxnSpLocks/>
          </p:cNvCxnSpPr>
          <p:nvPr/>
        </p:nvCxnSpPr>
        <p:spPr>
          <a:xfrm>
            <a:off x="9144000" y="2593299"/>
            <a:ext cx="0" cy="51865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84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1F88-F72E-57B3-39FE-6F4F6D6F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29D3A3B-5D2C-E784-6445-E79E9C59CA54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0FB79255-DB1F-E0F1-4C2F-489B1BF1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0DD6187-3D4C-9E2D-8209-9AA41EAE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0BDB4BF2-4E22-8CB3-74B3-F69BC3D75F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C631F932-8F7C-D591-863C-B6708328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IT22304674   | </a:t>
            </a:r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LIYANAGE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M.</a:t>
            </a:r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L.I.S.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597A7-6B5F-E3FA-D0A3-8CD693C283FE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Sinhala Sign Language Reader with Emotion Recognition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3A86D-90E9-CDD8-F60D-6D5523EA91AB}"/>
              </a:ext>
            </a:extLst>
          </p:cNvPr>
          <p:cNvSpPr txBox="1"/>
          <p:nvPr/>
        </p:nvSpPr>
        <p:spPr>
          <a:xfrm>
            <a:off x="369939" y="729671"/>
            <a:ext cx="169926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2A638F"/>
                </a:solidFill>
              </a:rPr>
              <a:t>User Requirements Addressed by the Solution</a:t>
            </a:r>
          </a:p>
          <a:p>
            <a:endParaRPr lang="en-US" sz="40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Multimodal Sign Recognition: </a:t>
            </a:r>
            <a:r>
              <a:rPr lang="en-US" sz="3200"/>
              <a:t>Integrates hand landmarks (126 dimensions), facial features (468 landmarks), and body pose (33 key points) for comprehensive sign interpretation.</a:t>
            </a:r>
          </a:p>
          <a:p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Emotion Context Detection: </a:t>
            </a:r>
            <a:r>
              <a:rPr lang="en-US" sz="3200"/>
              <a:t>Detects emotions (happiness, sadness, anger, surprise, fear, neutral) with intensity measurements for richer communication understanding.</a:t>
            </a:r>
          </a:p>
          <a:p>
            <a:endParaRPr lang="en-US"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Privacy-Preserving Real-Time Recognition: </a:t>
            </a:r>
            <a:r>
              <a:rPr lang="en-US" sz="3200"/>
              <a:t>On-device processing with edge AI models ensures full privacy, offline capability, and low latency.</a:t>
            </a:r>
          </a:p>
          <a:p>
            <a:endParaRPr lang="en-US"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Comprehensive Output: </a:t>
            </a:r>
            <a:r>
              <a:rPr lang="en-US" sz="3200"/>
              <a:t>Delivers sign text, emotion indicators, and confidence scores for complete communication understanding.</a:t>
            </a:r>
          </a:p>
          <a:p>
            <a:endParaRPr lang="en-US"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Extensive Sign Vocabulary: </a:t>
            </a:r>
            <a:r>
              <a:rPr lang="en-US" sz="3200"/>
              <a:t>Recognizes 227 Sinhala sign classes across multiple categories using LSTM and Hybrid CNN models.</a:t>
            </a:r>
          </a:p>
        </p:txBody>
      </p:sp>
    </p:spTree>
    <p:extLst>
      <p:ext uri="{BB962C8B-B14F-4D97-AF65-F5344CB8AC3E}">
        <p14:creationId xmlns:p14="http://schemas.microsoft.com/office/powerpoint/2010/main" val="40509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27E7-B2DD-71B1-0B64-3E8D45A0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F1C5629-ED5A-2209-FD0F-90043841AE8C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5093F54-BEF2-F25D-C4B4-74D9C73B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C7259C4-0528-4BB4-5F03-4050BEC5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766EF16E-96FB-897A-84A0-52037B207F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AB41C5CF-DAAE-0287-9BAD-3899A0A8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92527" y="9587329"/>
            <a:ext cx="5987845" cy="587830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IT22304674   |   LIYANAGE M.L.I.S.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5C66C-BFAF-87A0-B3A2-3A87679EEB22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prstClr val="black"/>
                </a:solidFill>
              </a:rPr>
              <a:t>Smart Sinhala Sign Language Reader with Emotion Recognition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BBDF561-CECC-7167-5273-2EA65D731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449" y="2209808"/>
            <a:ext cx="2924583" cy="6535062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F238C44D-6CE1-D288-DB4E-F65257E3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4721" y="2247908"/>
            <a:ext cx="2993923" cy="65350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CE48C8-8CFC-CC67-F27A-1CB947126FB0}"/>
              </a:ext>
            </a:extLst>
          </p:cNvPr>
          <p:cNvSpPr txBox="1"/>
          <p:nvPr/>
        </p:nvSpPr>
        <p:spPr>
          <a:xfrm>
            <a:off x="858847" y="721018"/>
            <a:ext cx="6320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Design Excellence/Contribution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ED9F25-3DB7-07EA-C3AE-D2D721DD7F10}"/>
              </a:ext>
            </a:extLst>
          </p:cNvPr>
          <p:cNvSpPr txBox="1"/>
          <p:nvPr/>
        </p:nvSpPr>
        <p:spPr>
          <a:xfrm>
            <a:off x="1266714" y="1584119"/>
            <a:ext cx="4256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A8B5"/>
                </a:solidFill>
              </a:rPr>
              <a:t>User-Centered Interface</a:t>
            </a:r>
          </a:p>
        </p:txBody>
      </p:sp>
    </p:spTree>
    <p:extLst>
      <p:ext uri="{BB962C8B-B14F-4D97-AF65-F5344CB8AC3E}">
        <p14:creationId xmlns:p14="http://schemas.microsoft.com/office/powerpoint/2010/main" val="2323104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B52C-BDCD-B91D-CEA0-F0E5403B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3F20789-8B21-7930-73DB-FA5B59ACB922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29D9779-9BB6-3385-447A-8A3095D395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D429503-A1B7-22AD-AF88-FA1282588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D9B8D4F5-A7AC-23BD-AC42-5E00074788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FBBAED5A-72F7-D1B9-D3B9-7DF3C148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IT22304674   |   LIYANAGE M.L.I.S.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FA5DB-27FB-2C01-0160-281E8948AD5B}"/>
              </a:ext>
            </a:extLst>
          </p:cNvPr>
          <p:cNvSpPr txBox="1"/>
          <p:nvPr/>
        </p:nvSpPr>
        <p:spPr>
          <a:xfrm>
            <a:off x="559386" y="941413"/>
            <a:ext cx="7356422" cy="639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Design Excellence and Contribution: </a:t>
            </a:r>
          </a:p>
          <a:p>
            <a:pPr>
              <a:lnSpc>
                <a:spcPct val="150000"/>
              </a:lnSpc>
            </a:pPr>
            <a:r>
              <a:rPr lang="en-US" sz="2800" b="1"/>
              <a:t>Key Design Strengths: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Multimodal recognition combining hand gestures, facial expressions, and body pose.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Real-time emotion detection with intensity measurements.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Complete on-device processing for privacy and offline capability.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Recognizes 227 Sinhala sign classes with high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70786-5D96-434D-64DB-61C2B89A260E}"/>
              </a:ext>
            </a:extLst>
          </p:cNvPr>
          <p:cNvSpPr txBox="1"/>
          <p:nvPr/>
        </p:nvSpPr>
        <p:spPr>
          <a:xfrm>
            <a:off x="9247898" y="1655232"/>
            <a:ext cx="8933747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/>
              <a:t>Unique Contribution: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Integrates emotion recognition with sign language for richer communication understanding.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Captures full emotional context (happiness, sadness, anger, surprise, fear, neutral) during signing.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Processes 1,582 multimodal features (126 hand + 1,456 facial) for comprehensive analysis.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Provides privacy-preserving recognition with lower latency for real-time communication.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6E757A-C3CB-0102-1828-66A4BA76C197}"/>
              </a:ext>
            </a:extLst>
          </p:cNvPr>
          <p:cNvCxnSpPr>
            <a:cxnSpLocks/>
          </p:cNvCxnSpPr>
          <p:nvPr/>
        </p:nvCxnSpPr>
        <p:spPr>
          <a:xfrm>
            <a:off x="8379502" y="2188564"/>
            <a:ext cx="0" cy="48464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89C831-BBEA-CF34-3A48-F4E3B3862987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Sinhala Sign Language Reader with Emotion Recognition</a:t>
            </a:r>
          </a:p>
        </p:txBody>
      </p:sp>
    </p:spTree>
    <p:extLst>
      <p:ext uri="{BB962C8B-B14F-4D97-AF65-F5344CB8AC3E}">
        <p14:creationId xmlns:p14="http://schemas.microsoft.com/office/powerpoint/2010/main" val="3776519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053E-C90C-E4F0-7F52-F5EF6ADF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A1F8E51-29D0-9ED4-B2DB-0D7E32B70ACC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2750FC00-6F02-A6DB-7961-D05B4867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1F4CC46-F4AE-9F8B-EF9C-EF2AA63A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1CE57190-4769-01B5-8AB5-C9D732953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8E622987-19BC-9B75-3F63-ED085560A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IT22304674   |   LIYANAGE M.L.I.S.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52EBC-3EA2-55F4-375A-47CB106DCDAF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Sinhala Sign Language Reader with Emotion Recognition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3D3A21-8376-A180-1165-872A24D21E1E}"/>
              </a:ext>
            </a:extLst>
          </p:cNvPr>
          <p:cNvSpPr txBox="1"/>
          <p:nvPr/>
        </p:nvSpPr>
        <p:spPr>
          <a:xfrm>
            <a:off x="1539732" y="2076094"/>
            <a:ext cx="11860161" cy="2724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2A638F"/>
                </a:solidFill>
              </a:rPr>
              <a:t>User Feedback on Prototype</a:t>
            </a:r>
            <a:endParaRPr lang="en-US" sz="320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Visual displays were clear and easy to understand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UI were intuitive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Emotion indicators helped understand context better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F0E864F-3F57-2D24-8CEB-589776310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726" y="4941619"/>
            <a:ext cx="7588031" cy="484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00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FA280-602E-9D70-CDD5-B30ABFCB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BD61E6-13D3-DDE0-9FA7-394224E8DB50}"/>
              </a:ext>
            </a:extLst>
          </p:cNvPr>
          <p:cNvSpPr/>
          <p:nvPr/>
        </p:nvSpPr>
        <p:spPr>
          <a:xfrm>
            <a:off x="-3301944" y="-1096870"/>
            <a:ext cx="5195213" cy="2843198"/>
          </a:xfrm>
          <a:custGeom>
            <a:avLst/>
            <a:gdLst/>
            <a:ahLst/>
            <a:cxnLst/>
            <a:rect l="l" t="t" r="r" b="b"/>
            <a:pathLst>
              <a:path w="5195213" h="2843198">
                <a:moveTo>
                  <a:pt x="0" y="0"/>
                </a:moveTo>
                <a:lnTo>
                  <a:pt x="5195213" y="0"/>
                </a:lnTo>
                <a:lnTo>
                  <a:pt x="5195213" y="2843198"/>
                </a:lnTo>
                <a:lnTo>
                  <a:pt x="0" y="2843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24680E-F348-1417-0280-2B43BD311EC0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A183AE0-A759-B500-09B7-A0840EA6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30910" y="9724980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D99DB859-D656-4E29-BE37-3FAF72135992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8E8CB94-7310-B277-646B-E96DCEA8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75510" y="9763080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691F3070-0B84-8E9C-B296-23414EDAAE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90" y="9724980"/>
            <a:ext cx="2743200" cy="587830"/>
          </a:xfrm>
          <a:prstGeom prst="rect">
            <a:avLst/>
          </a:prstGeom>
        </p:spPr>
      </p:pic>
      <p:sp>
        <p:nvSpPr>
          <p:cNvPr id="7" name="Footer Placeholder 18">
            <a:extLst>
              <a:ext uri="{FF2B5EF4-FFF2-40B4-BE49-F238E27FC236}">
                <a16:creationId xmlns:a16="http://schemas.microsoft.com/office/drawing/2014/main" id="{28FCCC83-CF38-6C5A-1FF9-2E3AF2E7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59810" y="9889512"/>
            <a:ext cx="7543800" cy="258763"/>
          </a:xfrm>
        </p:spPr>
        <p:txBody>
          <a:bodyPr/>
          <a:lstStyle/>
          <a:p>
            <a:r>
              <a:rPr lang="pt-BR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 A. N.  </a:t>
            </a:r>
            <a:endParaRPr lang="en-US" sz="24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2A27E376-F936-21D7-73A0-811D3E45AEE3}"/>
              </a:ext>
            </a:extLst>
          </p:cNvPr>
          <p:cNvSpPr txBox="1"/>
          <p:nvPr/>
        </p:nvSpPr>
        <p:spPr>
          <a:xfrm>
            <a:off x="1130710" y="4797414"/>
            <a:ext cx="12758277" cy="116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6903" b="1">
                <a:solidFill>
                  <a:srgbClr val="2A63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 SILVA U. P. A. N.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5B42AFBF-04EC-F216-5990-09347A22AB39}"/>
              </a:ext>
            </a:extLst>
          </p:cNvPr>
          <p:cNvSpPr txBox="1"/>
          <p:nvPr/>
        </p:nvSpPr>
        <p:spPr>
          <a:xfrm>
            <a:off x="1130710" y="3183060"/>
            <a:ext cx="6067239" cy="12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7066" b="1">
                <a:solidFill>
                  <a:srgbClr val="002060"/>
                </a:solidFill>
                <a:latin typeface="Roboto Bold"/>
                <a:ea typeface="Roboto Bold"/>
                <a:cs typeface="Roboto Bold"/>
                <a:sym typeface="Roboto Bold"/>
              </a:rPr>
              <a:t>IT22308870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374CE96E-F51E-E311-8FA6-BD3FDDF9A5FD}"/>
              </a:ext>
            </a:extLst>
          </p:cNvPr>
          <p:cNvSpPr txBox="1"/>
          <p:nvPr/>
        </p:nvSpPr>
        <p:spPr>
          <a:xfrm>
            <a:off x="1130710" y="6305876"/>
            <a:ext cx="15544800" cy="714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4276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Specialization : Information Technology</a:t>
            </a:r>
          </a:p>
        </p:txBody>
      </p:sp>
      <p:pic>
        <p:nvPicPr>
          <p:cNvPr id="11" name="Picture 10" descr="Two women in white dresses standing in a park&#10;&#10;AI-generated content may be incorrect.">
            <a:extLst>
              <a:ext uri="{FF2B5EF4-FFF2-40B4-BE49-F238E27FC236}">
                <a16:creationId xmlns:a16="http://schemas.microsoft.com/office/drawing/2014/main" id="{CEE84E71-D6B8-DFF3-EB97-CED008FDA8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17" t="7472" r="45938" b="57033"/>
          <a:stretch>
            <a:fillRect/>
          </a:stretch>
        </p:blipFill>
        <p:spPr>
          <a:xfrm>
            <a:off x="11782269" y="818936"/>
            <a:ext cx="5060881" cy="50837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140B7B-D621-79A6-838F-B5A0F810B5E0}"/>
              </a:ext>
            </a:extLst>
          </p:cNvPr>
          <p:cNvSpPr txBox="1"/>
          <p:nvPr/>
        </p:nvSpPr>
        <p:spPr>
          <a:xfrm>
            <a:off x="1130710" y="7339378"/>
            <a:ext cx="16886903" cy="157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987"/>
              </a:lnSpc>
            </a:pPr>
            <a:r>
              <a:rPr lang="en-US" sz="4000">
                <a:solidFill>
                  <a:srgbClr val="002060"/>
                </a:solidFill>
              </a:rPr>
              <a:t>Individual Component: Introducing a Sinhala Two-Way Communication System for Children with Speaking Disabilities</a:t>
            </a:r>
            <a:endParaRPr lang="en-US" sz="4800">
              <a:solidFill>
                <a:srgbClr val="2735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13547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7F6F-56C8-6BB5-1FBB-BD969229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37BB779-BB79-645B-EA53-FA7F191BB94F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8129E379-85B7-B39A-28F5-261229FA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6BA328C-9769-BCFB-18B2-E322F4A9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878A8AE6-9099-9A1A-8DC4-CF805AB5A0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56CF2BF6-238E-D6B6-CBD0-AEA722C9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P.A. 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FA320-9199-DBCF-02CC-B7263538EE5B}"/>
              </a:ext>
            </a:extLst>
          </p:cNvPr>
          <p:cNvSpPr txBox="1"/>
          <p:nvPr/>
        </p:nvSpPr>
        <p:spPr>
          <a:xfrm>
            <a:off x="228601" y="929309"/>
            <a:ext cx="8439854" cy="4263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Sub-Problem Identified: </a:t>
            </a:r>
          </a:p>
          <a:p>
            <a:pPr marL="1028751" lvl="1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Children struggle to express needs using speech</a:t>
            </a:r>
          </a:p>
          <a:p>
            <a:pPr marL="1028751" lvl="1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Parents know only limited sign language</a:t>
            </a:r>
          </a:p>
          <a:p>
            <a:pPr marL="1028751" lvl="1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Existing tools are not child-friendly or visual enough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D1616-7E6E-AF7D-0A60-AD82B81DC44A}"/>
              </a:ext>
            </a:extLst>
          </p:cNvPr>
          <p:cNvSpPr txBox="1"/>
          <p:nvPr/>
        </p:nvSpPr>
        <p:spPr>
          <a:xfrm>
            <a:off x="9125654" y="771068"/>
            <a:ext cx="8933747" cy="506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1" b="1">
                <a:solidFill>
                  <a:srgbClr val="2A638F"/>
                </a:solidFill>
              </a:rPr>
              <a:t>How the Solution Addresses It: </a:t>
            </a:r>
          </a:p>
          <a:p>
            <a:pPr marL="571529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Allows children to select visual signs instead of speaking</a:t>
            </a:r>
          </a:p>
          <a:p>
            <a:pPr marL="571529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Supports up to 3-word sentence building for simple expression</a:t>
            </a:r>
          </a:p>
          <a:p>
            <a:pPr marL="571529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Enables parents to search words and show signs</a:t>
            </a:r>
          </a:p>
          <a:p>
            <a:pPr marL="571529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Reduces communication anxiety for shy children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F7E5D-A231-AD91-2070-087641BF1BB5}"/>
              </a:ext>
            </a:extLst>
          </p:cNvPr>
          <p:cNvSpPr txBox="1"/>
          <p:nvPr/>
        </p:nvSpPr>
        <p:spPr>
          <a:xfrm>
            <a:off x="228600" y="187166"/>
            <a:ext cx="1258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Introducing a Sinhala Two-Way Communication System for Children with Speaking Disabilities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17E29-26A8-8E19-A521-1F4B77F96F67}"/>
              </a:ext>
            </a:extLst>
          </p:cNvPr>
          <p:cNvSpPr txBox="1"/>
          <p:nvPr/>
        </p:nvSpPr>
        <p:spPr>
          <a:xfrm>
            <a:off x="228600" y="5387376"/>
            <a:ext cx="9511392" cy="4198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User Requirements addressed: </a:t>
            </a:r>
          </a:p>
          <a:p>
            <a:pPr>
              <a:lnSpc>
                <a:spcPct val="150000"/>
              </a:lnSpc>
            </a:pPr>
            <a:r>
              <a:rPr lang="en-US" sz="3200" b="1"/>
              <a:t>Child Requirements:</a:t>
            </a:r>
            <a:endParaRPr lang="en-US" sz="3200"/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Visual learning → </a:t>
            </a:r>
            <a:r>
              <a:rPr lang="en-US" sz="3200">
                <a:solidFill>
                  <a:srgbClr val="FF0000"/>
                </a:solidFill>
              </a:rPr>
              <a:t>✔</a:t>
            </a:r>
            <a:r>
              <a:rPr lang="en-US" sz="3200"/>
              <a:t> Sign-based interface</a:t>
            </a:r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Simple interaction → </a:t>
            </a:r>
            <a:r>
              <a:rPr lang="en-US" sz="3200">
                <a:solidFill>
                  <a:srgbClr val="FF0000"/>
                </a:solidFill>
              </a:rPr>
              <a:t>✔</a:t>
            </a:r>
            <a:r>
              <a:rPr lang="en-US" sz="3200"/>
              <a:t> Large icons, minimal text</a:t>
            </a:r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Emotional comfort → </a:t>
            </a:r>
            <a:r>
              <a:rPr lang="en-US" sz="3200">
                <a:solidFill>
                  <a:srgbClr val="FF0000"/>
                </a:solidFill>
              </a:rPr>
              <a:t>✔</a:t>
            </a:r>
            <a:r>
              <a:rPr lang="en-US" sz="3200"/>
              <a:t> Friendly colors and layout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FA8E6-F80D-F2DB-A18A-C0651B2F5162}"/>
              </a:ext>
            </a:extLst>
          </p:cNvPr>
          <p:cNvSpPr txBox="1"/>
          <p:nvPr/>
        </p:nvSpPr>
        <p:spPr>
          <a:xfrm>
            <a:off x="9381293" y="6563304"/>
            <a:ext cx="893374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Parent Requirements:</a:t>
            </a:r>
            <a:endParaRPr lang="en-US" sz="3200"/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Limited sign knowledge → </a:t>
            </a:r>
            <a:r>
              <a:rPr lang="en-US" sz="3200">
                <a:solidFill>
                  <a:srgbClr val="FF0000"/>
                </a:solidFill>
              </a:rPr>
              <a:t>✔</a:t>
            </a:r>
            <a:r>
              <a:rPr lang="en-US" sz="3200"/>
              <a:t> Word-to-sign search</a:t>
            </a:r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Easy communication → </a:t>
            </a:r>
            <a:r>
              <a:rPr lang="en-US" sz="3200">
                <a:solidFill>
                  <a:srgbClr val="FF0000"/>
                </a:solidFill>
              </a:rPr>
              <a:t>✔ </a:t>
            </a:r>
            <a:r>
              <a:rPr lang="en-US" sz="3200"/>
              <a:t>No complex navigation</a:t>
            </a:r>
          </a:p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CE18F7-ED9D-ECAB-8FFB-132C629D4F5C}"/>
              </a:ext>
            </a:extLst>
          </p:cNvPr>
          <p:cNvCxnSpPr/>
          <p:nvPr/>
        </p:nvCxnSpPr>
        <p:spPr>
          <a:xfrm>
            <a:off x="8874177" y="2443397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FF92CA-FEEF-C265-69CB-D6EFDDCFBDB0}"/>
              </a:ext>
            </a:extLst>
          </p:cNvPr>
          <p:cNvCxnSpPr/>
          <p:nvPr/>
        </p:nvCxnSpPr>
        <p:spPr>
          <a:xfrm>
            <a:off x="9158991" y="6981432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EA0F62-78CE-C6F1-408B-7D80F0531085}"/>
              </a:ext>
            </a:extLst>
          </p:cNvPr>
          <p:cNvCxnSpPr/>
          <p:nvPr/>
        </p:nvCxnSpPr>
        <p:spPr>
          <a:xfrm flipH="1">
            <a:off x="11062743" y="6235908"/>
            <a:ext cx="54114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AD9703-347A-7A1E-5961-56AA5966D823}"/>
              </a:ext>
            </a:extLst>
          </p:cNvPr>
          <p:cNvCxnSpPr/>
          <p:nvPr/>
        </p:nvCxnSpPr>
        <p:spPr>
          <a:xfrm flipH="1">
            <a:off x="1171734" y="5344904"/>
            <a:ext cx="54114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743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6F49-D631-9FEC-FB9B-BA91B04D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086263B-8776-F6EB-E012-ECE445758B56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F873C462-310F-7B60-212E-32AC9D97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1E1EA67-B8F9-7318-9C45-96461726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68026F34-037F-28D7-1E1B-D47CA911D1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D76D0298-B142-FDFB-C2F9-51FE8A71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 A. 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080B7-03D6-4F32-EBAB-3E18014DB796}"/>
              </a:ext>
            </a:extLst>
          </p:cNvPr>
          <p:cNvSpPr txBox="1"/>
          <p:nvPr/>
        </p:nvSpPr>
        <p:spPr>
          <a:xfrm>
            <a:off x="228601" y="929307"/>
            <a:ext cx="7356422" cy="4263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Design Excellence and Contribution: </a:t>
            </a:r>
          </a:p>
          <a:p>
            <a:pPr>
              <a:lnSpc>
                <a:spcPct val="150000"/>
              </a:lnSpc>
            </a:pPr>
            <a:r>
              <a:rPr lang="en-US" sz="3200" b="1"/>
              <a:t>Key Design Strengths:</a:t>
            </a:r>
            <a:endParaRPr lang="en-US" sz="3200"/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Research-driven UI decisions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Child-centered interaction design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Accessibility-first approach (no audio dependency)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759E5-121D-999B-0586-90F0EF721B73}"/>
              </a:ext>
            </a:extLst>
          </p:cNvPr>
          <p:cNvSpPr txBox="1"/>
          <p:nvPr/>
        </p:nvSpPr>
        <p:spPr>
          <a:xfrm>
            <a:off x="9306892" y="1495410"/>
            <a:ext cx="8933747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/>
              <a:t>Unique Contribution: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Combines Sinhala signs + sentence building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Tailored for local Sri Lankan context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Designed specifically for young deaf learners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5EC19-C1E9-8582-0E84-1106EEFD84C5}"/>
              </a:ext>
            </a:extLst>
          </p:cNvPr>
          <p:cNvSpPr txBox="1"/>
          <p:nvPr/>
        </p:nvSpPr>
        <p:spPr>
          <a:xfrm>
            <a:off x="228600" y="187166"/>
            <a:ext cx="1258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Introducing a Sinhala Two-Way Communication System for Children with Speaking Disabilities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CBC3C-8183-73FB-546D-E6CDCB3DC9B4}"/>
              </a:ext>
            </a:extLst>
          </p:cNvPr>
          <p:cNvSpPr txBox="1"/>
          <p:nvPr/>
        </p:nvSpPr>
        <p:spPr>
          <a:xfrm>
            <a:off x="228601" y="5787616"/>
            <a:ext cx="8571272" cy="3524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User Feedback on Prototype: </a:t>
            </a:r>
          </a:p>
          <a:p>
            <a:pPr>
              <a:lnSpc>
                <a:spcPct val="150000"/>
              </a:lnSpc>
            </a:pPr>
            <a:r>
              <a:rPr lang="en-US" sz="3200" b="1"/>
              <a:t>Child Feedback (Observed):</a:t>
            </a:r>
            <a:endParaRPr lang="en-US" sz="3200"/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Preferred visual icons over text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Found sentence building engaging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Comfortable using without assistance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08111-A25D-0E7F-FB6B-60824B7C92F6}"/>
              </a:ext>
            </a:extLst>
          </p:cNvPr>
          <p:cNvSpPr txBox="1"/>
          <p:nvPr/>
        </p:nvSpPr>
        <p:spPr>
          <a:xfrm>
            <a:off x="9306892" y="6216392"/>
            <a:ext cx="85712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/>
              <a:t>Parent Feedback:</a:t>
            </a:r>
            <a:endParaRPr lang="en-US" sz="3200"/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Sign search feature very helpful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Interface easy to understand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Reduced communication difficulty</a:t>
            </a:r>
          </a:p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44EB35-922C-09F7-7221-03B39348404B}"/>
              </a:ext>
            </a:extLst>
          </p:cNvPr>
          <p:cNvCxnSpPr>
            <a:cxnSpLocks/>
          </p:cNvCxnSpPr>
          <p:nvPr/>
        </p:nvCxnSpPr>
        <p:spPr>
          <a:xfrm>
            <a:off x="1978701" y="5561351"/>
            <a:ext cx="41372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60EE08-9E33-914E-9FEA-55C136D9A77A}"/>
              </a:ext>
            </a:extLst>
          </p:cNvPr>
          <p:cNvCxnSpPr/>
          <p:nvPr/>
        </p:nvCxnSpPr>
        <p:spPr>
          <a:xfrm>
            <a:off x="8379502" y="2188564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959D4C-C736-7D51-08EA-67C8B42B1E26}"/>
              </a:ext>
            </a:extLst>
          </p:cNvPr>
          <p:cNvCxnSpPr/>
          <p:nvPr/>
        </p:nvCxnSpPr>
        <p:spPr>
          <a:xfrm>
            <a:off x="8379502" y="6523220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FC8C14-EE71-535E-5655-AA8835B05368}"/>
              </a:ext>
            </a:extLst>
          </p:cNvPr>
          <p:cNvCxnSpPr>
            <a:cxnSpLocks/>
          </p:cNvCxnSpPr>
          <p:nvPr/>
        </p:nvCxnSpPr>
        <p:spPr>
          <a:xfrm>
            <a:off x="11350052" y="5561351"/>
            <a:ext cx="41372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906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0125F-32AD-9A9B-747C-0BC5E552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42F95D8-EA1A-87C4-6395-4026E7373171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EBD48578-F222-224E-BBB5-1CC1100001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4/26/2026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1F3137A-FED4-9772-A096-B69307B7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D6872809-C2B2-475F-4D36-662C487060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15ABFDC9-D367-1FE5-6776-03338077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 A. 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CBD81-07CD-C531-75E8-7AF11FD7A545}"/>
              </a:ext>
            </a:extLst>
          </p:cNvPr>
          <p:cNvSpPr txBox="1"/>
          <p:nvPr/>
        </p:nvSpPr>
        <p:spPr>
          <a:xfrm>
            <a:off x="228600" y="187166"/>
            <a:ext cx="1258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Introducing a Sinhala Two-Way Communication System for Children with Speaking Disabilities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13A21C-7BD8-B5A4-6570-D7F17E02F331}"/>
              </a:ext>
            </a:extLst>
          </p:cNvPr>
          <p:cNvSpPr txBox="1"/>
          <p:nvPr/>
        </p:nvSpPr>
        <p:spPr>
          <a:xfrm>
            <a:off x="291231" y="871150"/>
            <a:ext cx="8571272" cy="20473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User Research Images: </a:t>
            </a:r>
          </a:p>
          <a:p>
            <a:pPr>
              <a:lnSpc>
                <a:spcPct val="150000"/>
              </a:lnSpc>
            </a:pPr>
            <a:endParaRPr lang="en-US" sz="3200" b="1">
              <a:ea typeface="Calibri"/>
              <a:cs typeface="Calibri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>
              <a:ea typeface="Calibri"/>
              <a:cs typeface="Calibri"/>
            </a:endParaRPr>
          </a:p>
        </p:txBody>
      </p:sp>
      <p:pic>
        <p:nvPicPr>
          <p:cNvPr id="4" name="Picture 3" descr="A child writing on a piece of paper&#10;&#10;AI-generated content may be incorrect.">
            <a:extLst>
              <a:ext uri="{FF2B5EF4-FFF2-40B4-BE49-F238E27FC236}">
                <a16:creationId xmlns:a16="http://schemas.microsoft.com/office/drawing/2014/main" id="{7FC524E1-E72C-2A6A-F803-F8D2B20D3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01" y="3438525"/>
            <a:ext cx="6048375" cy="3409950"/>
          </a:xfrm>
          <a:prstGeom prst="rect">
            <a:avLst/>
          </a:prstGeom>
        </p:spPr>
      </p:pic>
      <p:pic>
        <p:nvPicPr>
          <p:cNvPr id="5" name="Picture 4" descr="A child sitting at a table with flowers&#10;&#10;AI-generated content may be incorrect.">
            <a:extLst>
              <a:ext uri="{FF2B5EF4-FFF2-40B4-BE49-F238E27FC236}">
                <a16:creationId xmlns:a16="http://schemas.microsoft.com/office/drawing/2014/main" id="{2A345B0F-ADD4-EA90-E5F1-1E45DAC0D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314" y="2471738"/>
            <a:ext cx="3695700" cy="5343525"/>
          </a:xfrm>
          <a:prstGeom prst="rect">
            <a:avLst/>
          </a:prstGeom>
        </p:spPr>
      </p:pic>
      <p:pic>
        <p:nvPicPr>
          <p:cNvPr id="6" name="Picture 5" descr="A person sitting in chairs with a child&#10;&#10;AI-generated content may be incorrect.">
            <a:extLst>
              <a:ext uri="{FF2B5EF4-FFF2-40B4-BE49-F238E27FC236}">
                <a16:creationId xmlns:a16="http://schemas.microsoft.com/office/drawing/2014/main" id="{70326153-9E28-281F-0FF2-F8CD17E2C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3576" y="3311113"/>
            <a:ext cx="6471519" cy="36491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BA4AFD-9DA9-C661-D820-BC336668074A}"/>
              </a:ext>
            </a:extLst>
          </p:cNvPr>
          <p:cNvSpPr txBox="1"/>
          <p:nvPr/>
        </p:nvSpPr>
        <p:spPr>
          <a:xfrm>
            <a:off x="945061" y="7413484"/>
            <a:ext cx="54183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Indumini</a:t>
            </a:r>
            <a:r>
              <a:rPr lang="en-US">
                <a:ea typeface="+mn-lt"/>
                <a:cs typeface="+mn-lt"/>
              </a:rPr>
              <a:t> is completing my task that given to her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189B8-9E3C-27D5-E3E2-F9426ADE9782}"/>
              </a:ext>
            </a:extLst>
          </p:cNvPr>
          <p:cNvSpPr txBox="1"/>
          <p:nvPr/>
        </p:nvSpPr>
        <p:spPr>
          <a:xfrm>
            <a:off x="6143361" y="8274648"/>
            <a:ext cx="541835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ea typeface="+mn-lt"/>
                <a:cs typeface="+mn-lt"/>
              </a:rPr>
              <a:t>Hashila</a:t>
            </a:r>
            <a:r>
              <a:rPr lang="en-US" sz="1600">
                <a:ea typeface="+mn-lt"/>
                <a:cs typeface="+mn-lt"/>
              </a:rPr>
              <a:t> is completing my tasks with helping of his father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FB622D-3A16-E39D-B6C0-379650FB3776}"/>
              </a:ext>
            </a:extLst>
          </p:cNvPr>
          <p:cNvSpPr txBox="1"/>
          <p:nvPr/>
        </p:nvSpPr>
        <p:spPr>
          <a:xfrm>
            <a:off x="11936649" y="7413483"/>
            <a:ext cx="541835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Me interviewing </a:t>
            </a:r>
            <a:r>
              <a:rPr lang="en-US" sz="1600" err="1">
                <a:ea typeface="+mn-lt"/>
                <a:cs typeface="+mn-lt"/>
              </a:rPr>
              <a:t>Indumini's</a:t>
            </a:r>
            <a:r>
              <a:rPr lang="en-US" sz="1600">
                <a:ea typeface="+mn-lt"/>
                <a:cs typeface="+mn-lt"/>
              </a:rPr>
              <a:t> mother</a:t>
            </a:r>
            <a:endParaRPr lang="en-US" sz="160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6758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95425-0249-49C4-F949-77E0195DE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5458DB-613A-E818-6653-75360B665D87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9212BD-9999-981F-833B-B133E1651E37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D2CE338-B6C0-B9E2-0A9F-EE8859D11810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97C62D83-2694-81CC-8D2E-8517F0A078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4/26/2026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718125F2-1CB7-60DC-F7D1-EE9CE722FE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72DEC7-5A88-D65B-B7BF-1E0CD3AE150D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48635-8ACD-AA18-0BF4-30036989CAE8}"/>
              </a:ext>
            </a:extLst>
          </p:cNvPr>
          <p:cNvSpPr txBox="1"/>
          <p:nvPr/>
        </p:nvSpPr>
        <p:spPr>
          <a:xfrm>
            <a:off x="1216742" y="1327214"/>
            <a:ext cx="158545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rgbClr val="2A638F"/>
                </a:solidFill>
              </a:rPr>
              <a:t>Commercialization/Sustainability of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6B0B6-F257-4CBC-5DC3-E470735B1C93}"/>
              </a:ext>
            </a:extLst>
          </p:cNvPr>
          <p:cNvSpPr txBox="1"/>
          <p:nvPr/>
        </p:nvSpPr>
        <p:spPr>
          <a:xfrm>
            <a:off x="5020367" y="2478505"/>
            <a:ext cx="1375600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/>
              <a:t>Customer Persona</a:t>
            </a:r>
            <a:br>
              <a:rPr lang="en-US" sz="3200"/>
            </a:br>
            <a:br>
              <a:rPr lang="en-US" sz="3200"/>
            </a:br>
            <a:r>
              <a:rPr lang="en-US" sz="3200" b="1"/>
              <a:t>Name:</a:t>
            </a:r>
            <a:r>
              <a:rPr lang="en-US" sz="3200"/>
              <a:t> Hansika </a:t>
            </a:r>
            <a:r>
              <a:rPr lang="en-US" sz="3200" err="1"/>
              <a:t>Jayawardhana</a:t>
            </a:r>
            <a:br>
              <a:rPr lang="en-US" sz="3200"/>
            </a:br>
            <a:r>
              <a:rPr lang="en-US" sz="3200" b="1"/>
              <a:t>Role:</a:t>
            </a:r>
            <a:r>
              <a:rPr lang="en-US" sz="3200"/>
              <a:t> Sign Language Interpreter</a:t>
            </a:r>
            <a:br>
              <a:rPr lang="en-US" sz="3200"/>
            </a:br>
            <a:r>
              <a:rPr lang="en-US" sz="3200" b="1"/>
              <a:t>Needs: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Learn Sinhala Sign Language correctly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Communicate emotions and daily needs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Stay aware of environmental sounds for safety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Use simple, visual, mobile-friendly interfaces</a:t>
            </a:r>
          </a:p>
          <a:p>
            <a:r>
              <a:rPr lang="en-US" sz="3200" b="1"/>
              <a:t>Components Used: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Sign Learning System (skill development)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Environmental Sound Alert System (safety)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Sign Recognition with Emotion (expressive communication)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Two-Way Communication System (daily interaction)</a:t>
            </a:r>
          </a:p>
          <a:p>
            <a:pPr>
              <a:buNone/>
            </a:pPr>
            <a:endParaRPr lang="en-US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18BD6E-6D94-B0F3-72B6-9421EBFEE3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80" y="3067665"/>
            <a:ext cx="3456009" cy="425973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13388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7CA11-E6CA-E34B-1643-AF27AB61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9EEEB7-9233-DB45-BEAB-D66D835484E7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3F510C0-3FC7-D544-67E5-E5A61E20E0E8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D121FF3-EEBC-A214-8E6A-A53AD3A2931D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257AF4CB-A76A-7492-A02C-A2C9C526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4/26/2026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92A387DA-FDBB-D07C-ADF8-44BF78BE61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612271-A8CE-FCB6-B25F-4D282BC43C80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A32F4-641C-B887-B108-C3D9B67ABB45}"/>
              </a:ext>
            </a:extLst>
          </p:cNvPr>
          <p:cNvSpPr txBox="1"/>
          <p:nvPr/>
        </p:nvSpPr>
        <p:spPr>
          <a:xfrm>
            <a:off x="1216742" y="1327214"/>
            <a:ext cx="158545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rgbClr val="2A638F"/>
                </a:solidFill>
              </a:rPr>
              <a:t>Commercialization/Sustainability of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90E38-8BBF-CE62-AABB-4BC1EEFF3204}"/>
              </a:ext>
            </a:extLst>
          </p:cNvPr>
          <p:cNvSpPr txBox="1"/>
          <p:nvPr/>
        </p:nvSpPr>
        <p:spPr>
          <a:xfrm>
            <a:off x="1216742" y="2502230"/>
            <a:ext cx="1375600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/>
              <a:t>Target Market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Deaf and Hard-of-Hearing population in Sri Lanka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Children with speaking disabilities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Special education schools and institutes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NGOs and rehabilitation centers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Families and caregivers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  <a:p>
            <a:r>
              <a:rPr lang="en-US" sz="3200" b="1" u="sng"/>
              <a:t>Cost Recovery</a:t>
            </a:r>
            <a:br>
              <a:rPr lang="en-US" sz="3200"/>
            </a:br>
            <a:r>
              <a:rPr lang="en-US" sz="3200"/>
              <a:t>Costs are recovered through: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Subscription plans.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Licensing to schools, institutions, and caregiving </a:t>
            </a:r>
            <a:r>
              <a:rPr lang="en-US" sz="3200" err="1"/>
              <a:t>centeres</a:t>
            </a:r>
            <a:r>
              <a:rPr lang="en-US" sz="320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Using Optional premium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51010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62057">
            <a:off x="10776792" y="1733694"/>
            <a:ext cx="10137261" cy="6819612"/>
          </a:xfrm>
          <a:custGeom>
            <a:avLst/>
            <a:gdLst/>
            <a:ahLst/>
            <a:cxnLst/>
            <a:rect l="l" t="t" r="r" b="b"/>
            <a:pathLst>
              <a:path w="10137261" h="6819612">
                <a:moveTo>
                  <a:pt x="0" y="0"/>
                </a:moveTo>
                <a:lnTo>
                  <a:pt x="10137261" y="0"/>
                </a:lnTo>
                <a:lnTo>
                  <a:pt x="10137261" y="6819612"/>
                </a:lnTo>
                <a:lnTo>
                  <a:pt x="0" y="68196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284150" y="-53871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4"/>
                </a:lnTo>
                <a:lnTo>
                  <a:pt x="0" y="3338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608692" y="5387920"/>
            <a:ext cx="3609467" cy="800645"/>
          </a:xfrm>
          <a:custGeom>
            <a:avLst/>
            <a:gdLst/>
            <a:ahLst/>
            <a:cxnLst/>
            <a:rect l="l" t="t" r="r" b="b"/>
            <a:pathLst>
              <a:path w="3609467" h="800645">
                <a:moveTo>
                  <a:pt x="0" y="0"/>
                </a:moveTo>
                <a:lnTo>
                  <a:pt x="3609466" y="0"/>
                </a:lnTo>
                <a:lnTo>
                  <a:pt x="3609466" y="800646"/>
                </a:lnTo>
                <a:lnTo>
                  <a:pt x="0" y="800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3571331"/>
            <a:ext cx="10500162" cy="2214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92"/>
              </a:lnSpc>
              <a:spcBef>
                <a:spcPct val="0"/>
              </a:spcBef>
            </a:pPr>
            <a:r>
              <a:rPr lang="en-US" sz="12923">
                <a:solidFill>
                  <a:srgbClr val="2A638F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2185287" y="2571750"/>
            <a:ext cx="5409034" cy="5143500"/>
          </a:xfrm>
          <a:custGeom>
            <a:avLst/>
            <a:gdLst/>
            <a:ahLst/>
            <a:cxnLst/>
            <a:rect l="l" t="t" r="r" b="b"/>
            <a:pathLst>
              <a:path w="5409034" h="5143500">
                <a:moveTo>
                  <a:pt x="0" y="0"/>
                </a:moveTo>
                <a:lnTo>
                  <a:pt x="5409034" y="0"/>
                </a:lnTo>
                <a:lnTo>
                  <a:pt x="540903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98848" y="948530"/>
            <a:ext cx="474591" cy="459715"/>
          </a:xfrm>
          <a:custGeom>
            <a:avLst/>
            <a:gdLst/>
            <a:ahLst/>
            <a:cxnLst/>
            <a:rect l="l" t="t" r="r" b="b"/>
            <a:pathLst>
              <a:path w="474591" h="459715">
                <a:moveTo>
                  <a:pt x="0" y="0"/>
                </a:moveTo>
                <a:lnTo>
                  <a:pt x="474591" y="0"/>
                </a:lnTo>
                <a:lnTo>
                  <a:pt x="474591" y="459715"/>
                </a:lnTo>
                <a:lnTo>
                  <a:pt x="0" y="459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flipH="1">
            <a:off x="-7436" y="8352359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aca268-e3b2-4935-9488-571ad382c36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FCAD72F4CCFB45A09406EB35919E92" ma:contentTypeVersion="11" ma:contentTypeDescription="Create a new document." ma:contentTypeScope="" ma:versionID="b362febd3d4c139968ad974d8aaaff45">
  <xsd:schema xmlns:xsd="http://www.w3.org/2001/XMLSchema" xmlns:xs="http://www.w3.org/2001/XMLSchema" xmlns:p="http://schemas.microsoft.com/office/2006/metadata/properties" xmlns:ns3="afaca268-e3b2-4935-9488-571ad382c364" xmlns:ns4="162a7144-2f0e-4714-bb73-c0ccd69df26f" targetNamespace="http://schemas.microsoft.com/office/2006/metadata/properties" ma:root="true" ma:fieldsID="1ad2fdce61a3a1ecdd3565c9401267f0" ns3:_="" ns4:_="">
    <xsd:import namespace="afaca268-e3b2-4935-9488-571ad382c364"/>
    <xsd:import namespace="162a7144-2f0e-4714-bb73-c0ccd69df26f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aca268-e3b2-4935-9488-571ad382c36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a7144-2f0e-4714-bb73-c0ccd69df26f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CEA718-3BF3-4581-BA0A-055B2CF4C1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C0B461-D901-47AB-A0F3-0DA05BED97C1}">
  <ds:schemaRefs>
    <ds:schemaRef ds:uri="162a7144-2f0e-4714-bb73-c0ccd69df26f"/>
    <ds:schemaRef ds:uri="afaca268-e3b2-4935-9488-571ad382c3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3C00B3-FE76-4601-8B29-0BA887486A27}">
  <ds:schemaRefs>
    <ds:schemaRef ds:uri="162a7144-2f0e-4714-bb73-c0ccd69df26f"/>
    <ds:schemaRef ds:uri="afaca268-e3b2-4935-9488-571ad382c3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2368</Words>
  <Application>Microsoft Office PowerPoint</Application>
  <PresentationFormat>Custom</PresentationFormat>
  <Paragraphs>362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League Spartan</vt:lpstr>
      <vt:lpstr>Times New Roman</vt:lpstr>
      <vt:lpstr>Roboto</vt:lpstr>
      <vt:lpstr>Roboto Bold</vt:lpstr>
      <vt:lpstr>Wingdings</vt:lpstr>
      <vt:lpstr>Paalalabas Wide</vt:lpstr>
      <vt:lpstr>Calibri</vt:lpstr>
      <vt:lpstr>Rosario</vt:lpstr>
      <vt:lpstr>Public Sans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Business Proposal Presentation</dc:title>
  <dc:creator>DELL</dc:creator>
  <cp:lastModifiedBy>SILVA H T P it22315878</cp:lastModifiedBy>
  <cp:revision>3</cp:revision>
  <dcterms:created xsi:type="dcterms:W3CDTF">2006-08-16T00:00:00Z</dcterms:created>
  <dcterms:modified xsi:type="dcterms:W3CDTF">2026-04-26T02:20:26Z</dcterms:modified>
  <dc:identifier>DAG9L5qtSgw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0x010100B4FCAD72F4CCFB45A09406EB35919E92</vt:lpwstr>
  </property>
</Properties>
</file>